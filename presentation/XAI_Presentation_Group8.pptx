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56242"/>
  </p:normalViewPr>
  <p:slideViewPr>
    <p:cSldViewPr snapToGrid="0" snapToObjects="1">
      <p:cViewPr varScale="1">
        <p:scale>
          <a:sx n="70" d="100"/>
          <a:sy n="70" d="100"/>
        </p:scale>
        <p:origin x="22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4678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Do explanations drift before accuracy does? In this presentation we’ll use the 2026 oil shock to test whether a model’s explanations could have warned us before its predictions started going wrong.</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As I am sure we can all remember, earlier in </a:t>
            </a:r>
            <a:r>
              <a:rPr lang="en-GB" sz="1200" kern="1200" dirty="0" err="1">
                <a:solidFill>
                  <a:schemeClr val="tx1"/>
                </a:solidFill>
                <a:effectLst/>
                <a:latin typeface="+mn-lt"/>
                <a:ea typeface="+mn-ea"/>
                <a:cs typeface="+mn-cs"/>
              </a:rPr>
              <a:t>Febuary</a:t>
            </a:r>
            <a:r>
              <a:rPr lang="en-GB" sz="1200" kern="1200" dirty="0">
                <a:solidFill>
                  <a:schemeClr val="tx1"/>
                </a:solidFill>
                <a:effectLst/>
                <a:latin typeface="+mn-lt"/>
                <a:ea typeface="+mn-ea"/>
                <a:cs typeface="+mn-cs"/>
              </a:rPr>
              <a:t> this year the Strait of Hormuz closed. For anyone unfamiliar, it is this [point] stretch of water between Iran and Oman. It is the only route for ships out of the Persian Gulf, where a huge amount of the world’s oil is produced, and it is only 33km at its narrowest. It is relevant because-</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 fifth of the world’s oil goes through it. That’s 20 million barrels, which is over 3 billion litres, every day. As you can see, most of it goes to Asia, and Europe buys very little of it. But oil is priced on a global market, so that kind of block causes price to go up everywhere.</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That’s why the close resulted in headlines like this [point], of “$200 barrels”, and “Europe’s worst gas crisis since 2022,” and “flight cancellations for summer.” But did any of this happen..?</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No, it didn’t. Oil peaked at about 50% up, not the doubling that past shocks suggested. And that’s the problem with any forecast: you only find out how wrong it was once the real results come in. But what a model is relying on, you can see straight away. So could that reasoning have warned us sooner?</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To find out, we built our own model. [point as you go left to right] First, the data: German electricity prices for every hour, plus forecasts for wind, sun and demand. Next, we predict with a </a:t>
            </a:r>
            <a:r>
              <a:rPr lang="en-GB" sz="1200" kern="1200" dirty="0" err="1">
                <a:solidFill>
                  <a:schemeClr val="tx1"/>
                </a:solidFill>
                <a:effectLst/>
                <a:latin typeface="+mn-lt"/>
                <a:ea typeface="+mn-ea"/>
                <a:cs typeface="+mn-cs"/>
              </a:rPr>
              <a:t>LightGBM</a:t>
            </a:r>
            <a:r>
              <a:rPr lang="en-GB" sz="1200" kern="1200" dirty="0">
                <a:solidFill>
                  <a:schemeClr val="tx1"/>
                </a:solidFill>
                <a:effectLst/>
                <a:latin typeface="+mn-lt"/>
                <a:ea typeface="+mn-ea"/>
                <a:cs typeface="+mn-cs"/>
              </a:rPr>
              <a:t> model, which forecasts tomorrow’s 24 hourly prices. It’s built from hundreds of decision trees, like the ones we split with Gini impurity in class, so it’s no longer interpretable by design, and we need a post-hoc method to explain it. That’s where SHAP comes in. Finally, every two weeks, we measure how much the model’s reasoning has changed, using a score called weighted tau. We based this setup on a 2023 paper by Trebbien [say: TREB-been] and colleagues, who used </a:t>
            </a:r>
            <a:r>
              <a:rPr lang="en-GB" sz="1200" kern="1200" dirty="0" err="1">
                <a:solidFill>
                  <a:schemeClr val="tx1"/>
                </a:solidFill>
                <a:effectLst/>
                <a:latin typeface="+mn-lt"/>
                <a:ea typeface="+mn-ea"/>
                <a:cs typeface="+mn-cs"/>
              </a:rPr>
              <a:t>LightGBM</a:t>
            </a:r>
            <a:r>
              <a:rPr lang="en-GB" sz="1200" kern="1200" dirty="0">
                <a:solidFill>
                  <a:schemeClr val="tx1"/>
                </a:solidFill>
                <a:effectLst/>
                <a:latin typeface="+mn-lt"/>
                <a:ea typeface="+mn-ea"/>
                <a:cs typeface="+mn-cs"/>
              </a:rPr>
              <a:t> and SHAP to explain German electricity prices. What’s new in our project is that we watch those explanations change over time.</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You might be wondering: why not just predict the oil price? Well, the shock is the oil price, so a model of it would obviously break. Electricity feels the shock indirectly, through fuel costs. Here’s the chain. [point along the arrows] Oil and gas prices go up, so gas power plants cost more to run. The most expensive plant that’s needed sets the price for everyone, so electricity prices go up. And we know this link is real, because Trebbien’s paper found that fuel prices are among the top drivers of German power prices.</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what does the model actually rely on? This is SHAP, the post-hoc method we covered in class. For every forecast, SHAP gives a local explanation: how much each input, or feature, pushed the price up or down, in euro. If we average the size of those pushes over October, we get a global ranking. [point at bars] Wind is way out in front: on average it moved the forecast by about 25 euro. Yesterday’s price is next at about 14, then solar and demand. We chose SHAP over permutation feature importance, also from class, because permutation importance needs the true answer, and a model running live doesn’t have that yet. We also had one rule: we only use what’s known before the daily noon auction, like the wind and sun forecasts. This October ranking is our ‘before’ picture. [point at warning] But notice: October is autumn, so it’s windy and not very sunny. That comes back to bite us later.</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Here’s how we ran the experiment. [point left to right] Step one, train. The model learns from 21 months of German prices, January 2024 to September 2025. Step two, snapshot, in October 2025. On average the model is 14.5 euro off the real price, versus 43.5 for just copying last week’s price. Step three, measure normal wobble, from November to mid-February, still before the shock. We measure how much the ranking normally moves, and that sets our warning line. Step four, watch. From the 28th of February, the model forecasts tomorrow’s prices every day. Every two weeks we check how far the ranking has moved from October, and how big the error is. [point at bottom] And crucially, the model is trained once, then frozen. So if its reasoning changes, it’s because the world changed, not the model.</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how do we measure how much the ranking moved? [point at columns] Here’s October’s ranking on the left, and early June’s on the right. We use a score called weighted Kendall’s tau. It checks every pair of inputs and asks: are they in the same order in both rankings? A score of 1 means identical, and 0 means unrelated. ‘Weighted’ means swaps near the top count more. In this example, only wind and solar swapped places at the top. That’s summer, not the shock: the sun really does matter more in June. But because the swap is at the top, tau drops to 0.72. [point at the Warning card] Our warning line is 0.66, two standard deviations below the normal wobble, so there’s no warning. But it shows the season alone moves this score a lot. We use the same rule for the error, so both are judged fairly.</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This chart shows the whole result. Each column is a fortnight, showing the model’s top three inputs and, underneath, its forecast error. All winter, wind is on top. [point at shock line] But look at yesterday’s price after the shock: it’s suddenly near the top almost every fortnight. In spring, solar takes over, and by late summer yesterday’s price leads. So something did shift. [point at error bars] The error stays normal all through spring, then turns orange from the 20th of June, when the forecasts really went wrong. So the question is: did our measure catch the shift before that?</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did it catch it? [point at 15/15] After the shock, yesterday’s price was one of the model’s top three inputs in all 15 fortnights. Before the shock, it was only 4 out of 8. [point at second card] Demand went the other way: it was a top-three input in all 8 fortnights before the shock, but only 1 of 15 after. Maybe the model leans on recent prices when something it can’t see, like fuel costs, is driving them. But with one shock, we can’t prove that. [point at dark card] And none of this was an early warning. Tau never crossed its warning line before the error did, on the 20th of June. Why not? Because in October, yesterday’s price was already second. So moving up to first is just one swap, and tau barely notices.</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what happens if we give the model the oil price too? We trained a second version that can see it. [point at card 1] Its tau did cross the warning line, on the 25th of April: 56 days before the error did. [point at card 2] But what actually changed that fortnight was solar jumping to first. That’s spring, not oil. And when we compared with spring 2025 instead, the warning disappeared. [point at card 3] So why didn’t oil matter more? The biggest monthly oil rise the model saw in training was 21%. The shock was 78%. Tree models can’t go beyond what they’ve seen, so to this model a 78% rise looked exactly like 21%. [point at bottom bar] So there are two lessons: check any warning against the season, and a model can’t explain a shock it has never seen.</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We also want to be honest about what our setup can’t tell us. [point top left] First, rank, not size. By September, yesterday’s price’s push had grown from about 14 euro to 35, but tau only sees it move up one place. [point top right] Second, a shaky warning line. It comes from just 8 calm fortnights, and in mid-January, with no crisis at all, tau already crossed it. [point bottom left] Third, October did two jobs: we used it both to decide when to stop training and to measure accuracy, so our 14.5 error is slightly optimistic. [point bottom right] And finally, this is one shock, one market and two models, so it doesn’t prove that explanations never warn early.</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So, back to our question: do explanations drift before accuracy does? For this shock and this model, no. The error moved first, and the biggest shifts in the explanations came from the seasons, not the shock. So if you’re monitoring a model, SHAP is a useful extra signal, but watch it beside the error, not instead of it, and check any shift against the season first. Thank you. Any questions?</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0F1B2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43360"/>
            <a:ext cx="10566400" cy="440184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0F1B2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43360"/>
            <a:ext cx="10566400" cy="440184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6.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B39"/>
          </a:solidFill>
          <a:ln/>
        </p:spPr>
        <p:txBody>
          <a:bodyPr/>
          <a:lstStyle/>
          <a:p>
            <a:endParaRPr lang="en-IE"/>
          </a:p>
        </p:txBody>
      </p:sp>
      <p:sp>
        <p:nvSpPr>
          <p:cNvPr id="3" name="Text 1"/>
          <p:cNvSpPr/>
          <p:nvPr/>
        </p:nvSpPr>
        <p:spPr>
          <a:xfrm>
            <a:off x="812800" y="8128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E07B39"/>
                </a:solidFill>
                <a:latin typeface="IBM Plex Sans" pitchFamily="34" charset="0"/>
                <a:ea typeface="IBM Plex Sans" pitchFamily="34" charset="-122"/>
                <a:cs typeface="IBM Plex Sans" pitchFamily="34" charset="-120"/>
              </a:rPr>
              <a:t>CS4437 · EXPLAINABLE AI · GROUP 8</a:t>
            </a:r>
            <a:endParaRPr lang="en-US" sz="1600" dirty="0"/>
          </a:p>
        </p:txBody>
      </p:sp>
      <p:sp>
        <p:nvSpPr>
          <p:cNvPr id="4" name="Text 2"/>
          <p:cNvSpPr>
            <a:spLocks noGrp="1"/>
          </p:cNvSpPr>
          <p:nvPr>
            <p:ph type="title"/>
          </p:nvPr>
        </p:nvSpPr>
        <p:spPr>
          <a:xfrm>
            <a:off x="812800" y="232033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kern="0" spc="-100" dirty="0">
                <a:solidFill>
                  <a:srgbClr val="F5F3EE"/>
                </a:solidFill>
                <a:latin typeface="Space Grotesk" pitchFamily="34" charset="0"/>
                <a:ea typeface="Space Grotesk" pitchFamily="34" charset="-122"/>
                <a:cs typeface="Space Grotesk" pitchFamily="34" charset="-120"/>
              </a:rPr>
              <a:t>Do explanations drift</a:t>
            </a:r>
            <a:endParaRPr lang="en-US" sz="6000" dirty="0"/>
          </a:p>
          <a:p>
            <a:pPr marL="0" indent="0" algn="l">
              <a:lnSpc>
                <a:spcPts val="6300"/>
              </a:lnSpc>
              <a:buNone/>
            </a:pPr>
            <a:r>
              <a:rPr lang="en-US" sz="6000" b="1" i="0" kern="0" spc="-100" dirty="0">
                <a:solidFill>
                  <a:srgbClr val="F5F3EE"/>
                </a:solidFill>
                <a:latin typeface="Space Grotesk" pitchFamily="34" charset="0"/>
                <a:ea typeface="Space Grotesk" pitchFamily="34" charset="-122"/>
                <a:cs typeface="Space Grotesk" pitchFamily="34" charset="-120"/>
              </a:rPr>
              <a:t>before accuracy does?</a:t>
            </a:r>
            <a:endParaRPr lang="en-US" sz="6000" dirty="0"/>
          </a:p>
        </p:txBody>
      </p:sp>
      <p:sp>
        <p:nvSpPr>
          <p:cNvPr id="5" name="Text 3"/>
          <p:cNvSpPr/>
          <p:nvPr/>
        </p:nvSpPr>
        <p:spPr>
          <a:xfrm>
            <a:off x="812800" y="4174530"/>
            <a:ext cx="10883392"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3CEDB"/>
                </a:solidFill>
                <a:latin typeface="IBM Plex Sans" pitchFamily="34" charset="0"/>
                <a:ea typeface="IBM Plex Sans" pitchFamily="34" charset="-122"/>
                <a:cs typeface="IBM Plex Sans" pitchFamily="34" charset="-120"/>
              </a:rPr>
              <a:t>Watching a frozen electricity-price model through the 2026 oil shock</a:t>
            </a:r>
            <a:endParaRPr lang="en-US" sz="2200" dirty="0"/>
          </a:p>
        </p:txBody>
      </p:sp>
      <p:sp>
        <p:nvSpPr>
          <p:cNvPr id="6" name="Text 4"/>
          <p:cNvSpPr/>
          <p:nvPr/>
        </p:nvSpPr>
        <p:spPr>
          <a:xfrm>
            <a:off x="812800" y="57607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3CEDB"/>
                </a:solidFill>
                <a:latin typeface="IBM Plex Sans" pitchFamily="34" charset="0"/>
                <a:ea typeface="IBM Plex Sans" pitchFamily="34" charset="-122"/>
                <a:cs typeface="IBM Plex Sans" pitchFamily="34" charset="-120"/>
              </a:rPr>
              <a:t>Matthew Burke · Holly Best · Tom Byrne · Conor Clancy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pic>
        <p:nvPicPr>
          <p:cNvPr id="2" name="Image 0" descr="Satellite image of the Persian Gulf, with Iran to the north, the Arabian Peninsula to the south, and the narrow Strait of Hormuz leading out to the Gulf of Oman"/>
          <p:cNvPicPr>
            <a:picLocks noChangeAspect="1"/>
          </p:cNvPicPr>
          <p:nvPr/>
        </p:nvPicPr>
        <p:blipFill>
          <a:blip r:embed="rId3"/>
          <a:srcRect t="12500" b="12500"/>
          <a:stretch/>
        </p:blipFill>
        <p:spPr>
          <a:xfrm>
            <a:off x="0" y="0"/>
            <a:ext cx="12192000" cy="6858000"/>
          </a:xfrm>
          <a:prstGeom prst="rect">
            <a:avLst/>
          </a:prstGeom>
        </p:spPr>
      </p:pic>
      <p:sp>
        <p:nvSpPr>
          <p:cNvPr id="3" name="Shape 0"/>
          <p:cNvSpPr/>
          <p:nvPr/>
        </p:nvSpPr>
        <p:spPr>
          <a:xfrm>
            <a:off x="609600" y="609600"/>
            <a:ext cx="4826000" cy="1625550"/>
          </a:xfrm>
          <a:prstGeom prst="roundRect">
            <a:avLst>
              <a:gd name="adj" fmla="val 6250"/>
            </a:avLst>
          </a:prstGeom>
          <a:solidFill>
            <a:srgbClr val="0F1B2D">
              <a:alpha val="92000"/>
            </a:srgbClr>
          </a:solidFill>
          <a:ln/>
        </p:spPr>
        <p:txBody>
          <a:bodyPr/>
          <a:lstStyle/>
          <a:p>
            <a:endParaRPr lang="en-IE"/>
          </a:p>
        </p:txBody>
      </p:sp>
      <p:sp>
        <p:nvSpPr>
          <p:cNvPr id="4" name="Text 1"/>
          <p:cNvSpPr>
            <a:spLocks noGrp="1"/>
          </p:cNvSpPr>
          <p:nvPr>
            <p:ph type="title"/>
          </p:nvPr>
        </p:nvSpPr>
        <p:spPr>
          <a:xfrm>
            <a:off x="889000" y="863600"/>
            <a:ext cx="4395216"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3EE">
                    <a:alpha val="92000"/>
                  </a:srgbClr>
                </a:solidFill>
                <a:latin typeface="Space Grotesk" pitchFamily="34" charset="0"/>
                <a:ea typeface="Space Grotesk" pitchFamily="34" charset="-122"/>
                <a:cs typeface="Space Grotesk" pitchFamily="34" charset="-120"/>
              </a:rPr>
              <a:t>The Strait of Hormuz</a:t>
            </a:r>
            <a:endParaRPr lang="en-US" sz="3200" dirty="0"/>
          </a:p>
        </p:txBody>
      </p:sp>
      <p:sp>
        <p:nvSpPr>
          <p:cNvPr id="5" name="Text 2"/>
          <p:cNvSpPr/>
          <p:nvPr/>
        </p:nvSpPr>
        <p:spPr>
          <a:xfrm>
            <a:off x="889000" y="1412230"/>
            <a:ext cx="439521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3CEDB">
                    <a:alpha val="92000"/>
                  </a:srgbClr>
                </a:solidFill>
                <a:latin typeface="IBM Plex Sans" pitchFamily="34" charset="0"/>
                <a:ea typeface="IBM Plex Sans" pitchFamily="34" charset="-122"/>
                <a:cs typeface="IBM Plex Sans" pitchFamily="34" charset="-120"/>
              </a:rPr>
              <a:t>The only sea route out of the Persian Gulf. About 33 km wide at its narrowest.</a:t>
            </a:r>
            <a:endParaRPr lang="en-US" sz="1600" dirty="0"/>
          </a:p>
        </p:txBody>
      </p:sp>
      <p:sp>
        <p:nvSpPr>
          <p:cNvPr id="6" name="Text 3"/>
          <p:cNvSpPr/>
          <p:nvPr/>
        </p:nvSpPr>
        <p:spPr>
          <a:xfrm>
            <a:off x="7874000" y="1905000"/>
            <a:ext cx="1905000" cy="411460"/>
          </a:xfrm>
          <a:prstGeom prst="roundRect">
            <a:avLst>
              <a:gd name="adj" fmla="val 50000"/>
            </a:avLst>
          </a:prstGeom>
          <a:solidFill>
            <a:srgbClr val="E07B39"/>
          </a:solidFill>
          <a:ln/>
        </p:spPr>
        <p:txBody>
          <a:bodyPr wrap="square" lIns="66744" tIns="3244" rIns="66744" bIns="0" rtlCol="0" anchor="t">
            <a:normAutofit/>
          </a:bodyPr>
          <a:lstStyle/>
          <a:p>
            <a:pPr marL="0" indent="0" algn="ctr">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Strait of Hormuz</a:t>
            </a:r>
            <a:endParaRPr lang="en-US" sz="1600" dirty="0"/>
          </a:p>
        </p:txBody>
      </p:sp>
      <p:pic>
        <p:nvPicPr>
          <p:cNvPr id="7" name="Image 1" descr="connector"/>
          <p:cNvPicPr>
            <a:picLocks noChangeAspect="1"/>
          </p:cNvPicPr>
          <p:nvPr/>
        </p:nvPicPr>
        <p:blipFill>
          <a:blip r:embed="rId4"/>
          <a:srcRect/>
          <a:stretch/>
        </p:blipFill>
        <p:spPr>
          <a:xfrm>
            <a:off x="8775700" y="2247900"/>
            <a:ext cx="190500" cy="800100"/>
          </a:xfrm>
          <a:prstGeom prst="rect">
            <a:avLst/>
          </a:prstGeom>
        </p:spPr>
      </p:pic>
      <p:sp>
        <p:nvSpPr>
          <p:cNvPr id="8" name="Text 4"/>
          <p:cNvSpPr/>
          <p:nvPr/>
        </p:nvSpPr>
        <p:spPr>
          <a:xfrm>
            <a:off x="5588000" y="698500"/>
            <a:ext cx="1320800" cy="345430"/>
          </a:xfrm>
          <a:prstGeom prst="rect">
            <a:avLst/>
          </a:prstGeom>
          <a:noFill/>
          <a:ln/>
        </p:spPr>
        <p:txBody>
          <a:bodyPr wrap="square" lIns="0" tIns="0" rIns="0" bIns="0" rtlCol="0" anchor="t">
            <a:normAutofit/>
          </a:bodyPr>
          <a:lstStyle/>
          <a:p>
            <a:pPr marL="0" indent="0" algn="l">
              <a:lnSpc>
                <a:spcPts val="2520"/>
              </a:lnSpc>
              <a:buNone/>
            </a:pPr>
            <a:r>
              <a:rPr lang="en-US" sz="1800" b="1" kern="0" spc="300" dirty="0">
                <a:solidFill>
                  <a:srgbClr val="0F1B2D"/>
                </a:solidFill>
                <a:latin typeface="IBM Plex Sans" pitchFamily="34" charset="0"/>
                <a:ea typeface="IBM Plex Sans" pitchFamily="34" charset="-122"/>
                <a:cs typeface="IBM Plex Sans" pitchFamily="34" charset="-120"/>
              </a:rPr>
              <a:t>IRAN</a:t>
            </a:r>
            <a:endParaRPr lang="en-US" sz="1800" dirty="0"/>
          </a:p>
        </p:txBody>
      </p:sp>
      <p:sp>
        <p:nvSpPr>
          <p:cNvPr id="9" name="Text 5"/>
          <p:cNvSpPr/>
          <p:nvPr/>
        </p:nvSpPr>
        <p:spPr>
          <a:xfrm>
            <a:off x="4064000" y="3810000"/>
            <a:ext cx="2223770" cy="30986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C3CEDB"/>
                </a:solidFill>
                <a:latin typeface="IBM Plex Sans" pitchFamily="34" charset="0"/>
                <a:ea typeface="IBM Plex Sans" pitchFamily="34" charset="-122"/>
                <a:cs typeface="IBM Plex Sans" pitchFamily="34" charset="-120"/>
              </a:rPr>
              <a:t>Persian Gulf</a:t>
            </a:r>
            <a:endParaRPr lang="en-US" sz="1600" dirty="0"/>
          </a:p>
        </p:txBody>
      </p:sp>
      <p:sp>
        <p:nvSpPr>
          <p:cNvPr id="10" name="Text 6"/>
          <p:cNvSpPr/>
          <p:nvPr/>
        </p:nvSpPr>
        <p:spPr>
          <a:xfrm>
            <a:off x="9906000" y="4889500"/>
            <a:ext cx="1962150" cy="30986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C3CEDB"/>
                </a:solidFill>
                <a:latin typeface="IBM Plex Sans" pitchFamily="34" charset="0"/>
                <a:ea typeface="IBM Plex Sans" pitchFamily="34" charset="-122"/>
                <a:cs typeface="IBM Plex Sans" pitchFamily="34" charset="-120"/>
              </a:rPr>
              <a:t>Gulf of Oman</a:t>
            </a:r>
            <a:endParaRPr lang="en-US" sz="1600" dirty="0"/>
          </a:p>
        </p:txBody>
      </p:sp>
      <p:sp>
        <p:nvSpPr>
          <p:cNvPr id="11" name="Text 7"/>
          <p:cNvSpPr/>
          <p:nvPr/>
        </p:nvSpPr>
        <p:spPr>
          <a:xfrm>
            <a:off x="5715000" y="59055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0F1B2D"/>
                </a:solidFill>
                <a:latin typeface="IBM Plex Sans" pitchFamily="34" charset="0"/>
                <a:ea typeface="IBM Plex Sans" pitchFamily="34" charset="-122"/>
                <a:cs typeface="IBM Plex Sans" pitchFamily="34" charset="-120"/>
              </a:rPr>
              <a:t>ARABIAN PENINSULA</a:t>
            </a:r>
            <a:endParaRPr lang="en-US" sz="1600" dirty="0"/>
          </a:p>
        </p:txBody>
      </p:sp>
      <p:sp>
        <p:nvSpPr>
          <p:cNvPr id="12" name="Text 8"/>
          <p:cNvSpPr/>
          <p:nvPr/>
        </p:nvSpPr>
        <p:spPr>
          <a:xfrm>
            <a:off x="7962900" y="64414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5F3EE"/>
                </a:solidFill>
                <a:latin typeface="IBM Plex Sans" pitchFamily="34" charset="0"/>
                <a:ea typeface="IBM Plex Sans" pitchFamily="34" charset="-122"/>
                <a:cs typeface="IBM Plex Sans" pitchFamily="34" charset="-120"/>
              </a:rPr>
              <a:t>Image: via USNI News, 27 Mar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B85A1E"/>
                </a:solidFill>
                <a:latin typeface="IBM Plex Sans" pitchFamily="34" charset="0"/>
                <a:ea typeface="IBM Plex Sans" pitchFamily="34" charset="-122"/>
                <a:cs typeface="IBM Plex Sans" pitchFamily="34" charset="-120"/>
              </a:rPr>
              <a:t>28 FEBRUARY 2026</a:t>
            </a:r>
            <a:endParaRPr lang="en-US" sz="1600" dirty="0"/>
          </a:p>
        </p:txBody>
      </p:sp>
      <p:sp>
        <p:nvSpPr>
          <p:cNvPr id="3" name="Text 1"/>
          <p:cNvSpPr>
            <a:spLocks noGrp="1"/>
          </p:cNvSpPr>
          <p:nvPr>
            <p:ph type="title"/>
          </p:nvPr>
        </p:nvSpPr>
        <p:spPr>
          <a:xfrm>
            <a:off x="812800" y="1249660"/>
            <a:ext cx="9810750" cy="107692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0F1B2D"/>
                </a:solidFill>
                <a:latin typeface="Space Grotesk" pitchFamily="34" charset="0"/>
                <a:ea typeface="Space Grotesk" pitchFamily="34" charset="-122"/>
                <a:cs typeface="Space Grotesk" pitchFamily="34" charset="-120"/>
              </a:rPr>
              <a:t>About a fifth of the world's oil goes through one strait. It closed.</a:t>
            </a:r>
            <a:endParaRPr lang="en-US" sz="3600" dirty="0"/>
          </a:p>
        </p:txBody>
      </p:sp>
      <p:sp>
        <p:nvSpPr>
          <p:cNvPr id="4" name="Text 2"/>
          <p:cNvSpPr/>
          <p:nvPr/>
        </p:nvSpPr>
        <p:spPr>
          <a:xfrm>
            <a:off x="812800" y="2984500"/>
            <a:ext cx="3632200" cy="1168400"/>
          </a:xfrm>
          <a:prstGeom prst="rect">
            <a:avLst/>
          </a:prstGeom>
          <a:noFill/>
          <a:ln/>
        </p:spPr>
        <p:txBody>
          <a:bodyPr wrap="square" lIns="0" tIns="0" rIns="0" bIns="0" rtlCol="0" anchor="t">
            <a:normAutofit/>
          </a:bodyPr>
          <a:lstStyle/>
          <a:p>
            <a:pPr marL="0" indent="0" algn="l">
              <a:lnSpc>
                <a:spcPts val="9000"/>
              </a:lnSpc>
              <a:buNone/>
            </a:pPr>
            <a:r>
              <a:rPr lang="en-US" sz="9000" b="1" dirty="0">
                <a:solidFill>
                  <a:srgbClr val="B85A1E"/>
                </a:solidFill>
                <a:latin typeface="Space Grotesk" pitchFamily="34" charset="0"/>
                <a:ea typeface="Space Grotesk" pitchFamily="34" charset="-122"/>
                <a:cs typeface="Space Grotesk" pitchFamily="34" charset="-120"/>
              </a:rPr>
              <a:t>~20%</a:t>
            </a:r>
            <a:endParaRPr lang="en-US" sz="9000" dirty="0"/>
          </a:p>
        </p:txBody>
      </p:sp>
      <p:sp>
        <p:nvSpPr>
          <p:cNvPr id="5" name="Text 3"/>
          <p:cNvSpPr/>
          <p:nvPr/>
        </p:nvSpPr>
        <p:spPr>
          <a:xfrm>
            <a:off x="812800" y="4191000"/>
            <a:ext cx="32702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of the world's oil use: about 20 million barrels a day</a:t>
            </a:r>
            <a:endParaRPr lang="en-US" sz="1600" dirty="0"/>
          </a:p>
        </p:txBody>
      </p:sp>
      <p:sp>
        <p:nvSpPr>
          <p:cNvPr id="6" name="Text 4"/>
          <p:cNvSpPr/>
          <p:nvPr/>
        </p:nvSpPr>
        <p:spPr>
          <a:xfrm>
            <a:off x="812800" y="4889500"/>
            <a:ext cx="3175000" cy="948630"/>
          </a:xfrm>
          <a:prstGeom prst="roundRect">
            <a:avLst>
              <a:gd name="adj" fmla="val 8033"/>
            </a:avLst>
          </a:prstGeom>
          <a:solidFill>
            <a:srgbClr val="0F1B2D"/>
          </a:solidFill>
          <a:ln/>
        </p:spPr>
        <p:txBody>
          <a:bodyPr wrap="square" lIns="117382" tIns="91982" rIns="30514" bIns="66582" rtlCol="0" anchor="t">
            <a:normAutofit/>
          </a:bodyPr>
          <a:lstStyle/>
          <a:p>
            <a:pPr marL="0" indent="0" algn="l">
              <a:lnSpc>
                <a:spcPts val="1890"/>
              </a:lnSpc>
              <a:buNone/>
            </a:pPr>
            <a:r>
              <a:rPr lang="en-US" sz="1400" dirty="0">
                <a:solidFill>
                  <a:srgbClr val="F5F3EE"/>
                </a:solidFill>
                <a:latin typeface="IBM Plex Sans" pitchFamily="34" charset="0"/>
                <a:ea typeface="IBM Plex Sans" pitchFamily="34" charset="-122"/>
                <a:cs typeface="IBM Plex Sans" pitchFamily="34" charset="-120"/>
              </a:rPr>
              <a:t>Europe buys little of it directly. But oil is priced globally, so </a:t>
            </a:r>
            <a:r>
              <a:rPr lang="en-US" sz="1400" b="1" dirty="0">
                <a:solidFill>
                  <a:srgbClr val="F5F3EE"/>
                </a:solidFill>
                <a:latin typeface="IBM Plex Sans" pitchFamily="34" charset="0"/>
                <a:ea typeface="IBM Plex Sans" pitchFamily="34" charset="-122"/>
                <a:cs typeface="IBM Plex Sans" pitchFamily="34" charset="-120"/>
              </a:rPr>
              <a:t>everyone pays more</a:t>
            </a:r>
            <a:r>
              <a:rPr lang="en-US" sz="1400" dirty="0">
                <a:solidFill>
                  <a:srgbClr val="F5F3EE"/>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4445000" y="2857500"/>
            <a:ext cx="3924300" cy="25653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4A5568"/>
                </a:solidFill>
                <a:latin typeface="IBM Plex Sans" pitchFamily="34" charset="0"/>
                <a:ea typeface="IBM Plex Sans" pitchFamily="34" charset="-122"/>
                <a:cs typeface="IBM Plex Sans" pitchFamily="34" charset="-120"/>
              </a:rPr>
              <a:t>WHERE THAT OIL GOES</a:t>
            </a:r>
            <a:endParaRPr lang="en-US" sz="1300" dirty="0"/>
          </a:p>
        </p:txBody>
      </p:sp>
      <p:pic>
        <p:nvPicPr>
          <p:cNvPr id="8" name="Image 0" descr="Flag of China"/>
          <p:cNvPicPr>
            <a:picLocks noChangeAspect="1"/>
          </p:cNvPicPr>
          <p:nvPr/>
        </p:nvPicPr>
        <p:blipFill>
          <a:blip r:embed="rId3"/>
          <a:srcRect/>
          <a:stretch/>
        </p:blipFill>
        <p:spPr>
          <a:xfrm>
            <a:off x="4445000" y="3213100"/>
            <a:ext cx="609600" cy="406400"/>
          </a:xfrm>
          <a:prstGeom prst="rect">
            <a:avLst/>
          </a:prstGeom>
        </p:spPr>
      </p:pic>
      <p:sp>
        <p:nvSpPr>
          <p:cNvPr id="9" name="Text 6"/>
          <p:cNvSpPr/>
          <p:nvPr/>
        </p:nvSpPr>
        <p:spPr>
          <a:xfrm>
            <a:off x="6680200" y="3175000"/>
            <a:ext cx="389813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China</a:t>
            </a:r>
            <a:endParaRPr lang="en-US" sz="1500" dirty="0"/>
          </a:p>
        </p:txBody>
      </p:sp>
      <p:sp>
        <p:nvSpPr>
          <p:cNvPr id="10" name="Shape 7"/>
          <p:cNvSpPr/>
          <p:nvPr/>
        </p:nvSpPr>
        <p:spPr>
          <a:xfrm>
            <a:off x="6680200" y="3479800"/>
            <a:ext cx="3556000" cy="177800"/>
          </a:xfrm>
          <a:prstGeom prst="roundRect">
            <a:avLst>
              <a:gd name="adj" fmla="val 14286"/>
            </a:avLst>
          </a:prstGeom>
          <a:solidFill>
            <a:srgbClr val="DE2910"/>
          </a:solidFill>
          <a:ln/>
        </p:spPr>
        <p:txBody>
          <a:bodyPr/>
          <a:lstStyle/>
          <a:p>
            <a:endParaRPr lang="en-IE"/>
          </a:p>
        </p:txBody>
      </p:sp>
      <p:sp>
        <p:nvSpPr>
          <p:cNvPr id="11" name="Text 8"/>
          <p:cNvSpPr/>
          <p:nvPr/>
        </p:nvSpPr>
        <p:spPr>
          <a:xfrm>
            <a:off x="10566400" y="3220740"/>
            <a:ext cx="812800" cy="41652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0F1B2D"/>
                </a:solidFill>
                <a:latin typeface="Space Grotesk" pitchFamily="34" charset="0"/>
                <a:ea typeface="Space Grotesk" pitchFamily="34" charset="-122"/>
                <a:cs typeface="Space Grotesk" pitchFamily="34" charset="-120"/>
              </a:rPr>
              <a:t>~38%</a:t>
            </a:r>
            <a:endParaRPr lang="en-US" sz="2200" dirty="0"/>
          </a:p>
        </p:txBody>
      </p:sp>
      <p:pic>
        <p:nvPicPr>
          <p:cNvPr id="12" name="Image 1" descr="Flag of India"/>
          <p:cNvPicPr>
            <a:picLocks noChangeAspect="1"/>
          </p:cNvPicPr>
          <p:nvPr/>
        </p:nvPicPr>
        <p:blipFill>
          <a:blip r:embed="rId4"/>
          <a:srcRect l="-538" r="-538"/>
          <a:stretch/>
        </p:blipFill>
        <p:spPr>
          <a:xfrm>
            <a:off x="4451350" y="3841750"/>
            <a:ext cx="596900" cy="393700"/>
          </a:xfrm>
          <a:prstGeom prst="rect">
            <a:avLst/>
          </a:prstGeom>
        </p:spPr>
      </p:pic>
      <p:sp>
        <p:nvSpPr>
          <p:cNvPr id="13" name="Shape 9"/>
          <p:cNvSpPr/>
          <p:nvPr/>
        </p:nvSpPr>
        <p:spPr>
          <a:xfrm>
            <a:off x="4448175" y="3838575"/>
            <a:ext cx="603250" cy="400050"/>
          </a:xfrm>
          <a:prstGeom prst="rect">
            <a:avLst/>
          </a:prstGeom>
          <a:noFill/>
          <a:ln w="6350">
            <a:solidFill>
              <a:srgbClr val="DED9CE"/>
            </a:solidFill>
            <a:prstDash val="solid"/>
          </a:ln>
        </p:spPr>
        <p:txBody>
          <a:bodyPr/>
          <a:lstStyle/>
          <a:p>
            <a:endParaRPr lang="en-IE"/>
          </a:p>
        </p:txBody>
      </p:sp>
      <p:pic>
        <p:nvPicPr>
          <p:cNvPr id="14" name="Image 2" descr="Flag of Japan"/>
          <p:cNvPicPr>
            <a:picLocks noChangeAspect="1"/>
          </p:cNvPicPr>
          <p:nvPr/>
        </p:nvPicPr>
        <p:blipFill>
          <a:blip r:embed="rId5"/>
          <a:srcRect l="-538" r="-538"/>
          <a:stretch/>
        </p:blipFill>
        <p:spPr>
          <a:xfrm>
            <a:off x="5162550" y="3841750"/>
            <a:ext cx="596900" cy="393700"/>
          </a:xfrm>
          <a:prstGeom prst="rect">
            <a:avLst/>
          </a:prstGeom>
        </p:spPr>
      </p:pic>
      <p:sp>
        <p:nvSpPr>
          <p:cNvPr id="15" name="Shape 10"/>
          <p:cNvSpPr/>
          <p:nvPr/>
        </p:nvSpPr>
        <p:spPr>
          <a:xfrm>
            <a:off x="5159375" y="3838575"/>
            <a:ext cx="603250" cy="400050"/>
          </a:xfrm>
          <a:prstGeom prst="rect">
            <a:avLst/>
          </a:prstGeom>
          <a:noFill/>
          <a:ln w="6350">
            <a:solidFill>
              <a:srgbClr val="DED9CE"/>
            </a:solidFill>
            <a:prstDash val="solid"/>
          </a:ln>
        </p:spPr>
        <p:txBody>
          <a:bodyPr/>
          <a:lstStyle/>
          <a:p>
            <a:endParaRPr lang="en-IE"/>
          </a:p>
        </p:txBody>
      </p:sp>
      <p:pic>
        <p:nvPicPr>
          <p:cNvPr id="16" name="Image 3" descr="Flag of South Korea"/>
          <p:cNvPicPr>
            <a:picLocks noChangeAspect="1"/>
          </p:cNvPicPr>
          <p:nvPr/>
        </p:nvPicPr>
        <p:blipFill>
          <a:blip r:embed="rId6"/>
          <a:srcRect l="-538" r="-538"/>
          <a:stretch/>
        </p:blipFill>
        <p:spPr>
          <a:xfrm>
            <a:off x="5873750" y="3841750"/>
            <a:ext cx="596900" cy="393700"/>
          </a:xfrm>
          <a:prstGeom prst="rect">
            <a:avLst/>
          </a:prstGeom>
        </p:spPr>
      </p:pic>
      <p:sp>
        <p:nvSpPr>
          <p:cNvPr id="17" name="Shape 11"/>
          <p:cNvSpPr/>
          <p:nvPr/>
        </p:nvSpPr>
        <p:spPr>
          <a:xfrm>
            <a:off x="5870575" y="3838575"/>
            <a:ext cx="603250" cy="400050"/>
          </a:xfrm>
          <a:prstGeom prst="rect">
            <a:avLst/>
          </a:prstGeom>
          <a:noFill/>
          <a:ln w="6350">
            <a:solidFill>
              <a:srgbClr val="DED9CE"/>
            </a:solidFill>
            <a:prstDash val="solid"/>
          </a:ln>
        </p:spPr>
        <p:txBody>
          <a:bodyPr/>
          <a:lstStyle/>
          <a:p>
            <a:endParaRPr lang="en-IE"/>
          </a:p>
        </p:txBody>
      </p:sp>
      <p:sp>
        <p:nvSpPr>
          <p:cNvPr id="18" name="Text 12"/>
          <p:cNvSpPr/>
          <p:nvPr/>
        </p:nvSpPr>
        <p:spPr>
          <a:xfrm>
            <a:off x="6680200" y="3797300"/>
            <a:ext cx="389813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India, Japan, South Korea</a:t>
            </a:r>
            <a:endParaRPr lang="en-US" sz="1500" dirty="0"/>
          </a:p>
        </p:txBody>
      </p:sp>
      <p:sp>
        <p:nvSpPr>
          <p:cNvPr id="19" name="Shape 13"/>
          <p:cNvSpPr/>
          <p:nvPr/>
        </p:nvSpPr>
        <p:spPr>
          <a:xfrm>
            <a:off x="6680200" y="4102100"/>
            <a:ext cx="2901950" cy="177800"/>
          </a:xfrm>
          <a:prstGeom prst="roundRect">
            <a:avLst>
              <a:gd name="adj" fmla="val 14286"/>
            </a:avLst>
          </a:prstGeom>
          <a:solidFill>
            <a:srgbClr val="2F6FAE"/>
          </a:solidFill>
          <a:ln/>
        </p:spPr>
        <p:txBody>
          <a:bodyPr/>
          <a:lstStyle/>
          <a:p>
            <a:endParaRPr lang="en-IE"/>
          </a:p>
        </p:txBody>
      </p:sp>
      <p:sp>
        <p:nvSpPr>
          <p:cNvPr id="20" name="Text 14"/>
          <p:cNvSpPr/>
          <p:nvPr/>
        </p:nvSpPr>
        <p:spPr>
          <a:xfrm>
            <a:off x="10566400" y="3843040"/>
            <a:ext cx="812800" cy="41652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0F1B2D"/>
                </a:solidFill>
                <a:latin typeface="Space Grotesk" pitchFamily="34" charset="0"/>
                <a:ea typeface="Space Grotesk" pitchFamily="34" charset="-122"/>
                <a:cs typeface="Space Grotesk" pitchFamily="34" charset="-120"/>
              </a:rPr>
              <a:t>~31%</a:t>
            </a:r>
            <a:endParaRPr lang="en-US" sz="2200" dirty="0"/>
          </a:p>
        </p:txBody>
      </p:sp>
      <p:pic>
        <p:nvPicPr>
          <p:cNvPr id="21" name="Image 4" descr="Globe"/>
          <p:cNvPicPr>
            <a:picLocks noChangeAspect="1"/>
          </p:cNvPicPr>
          <p:nvPr/>
        </p:nvPicPr>
        <p:blipFill>
          <a:blip r:embed="rId7"/>
          <a:srcRect/>
          <a:stretch/>
        </p:blipFill>
        <p:spPr>
          <a:xfrm>
            <a:off x="4445000" y="4457700"/>
            <a:ext cx="406400" cy="406400"/>
          </a:xfrm>
          <a:prstGeom prst="rect">
            <a:avLst/>
          </a:prstGeom>
        </p:spPr>
      </p:pic>
      <p:sp>
        <p:nvSpPr>
          <p:cNvPr id="22" name="Text 15"/>
          <p:cNvSpPr/>
          <p:nvPr/>
        </p:nvSpPr>
        <p:spPr>
          <a:xfrm>
            <a:off x="6680200" y="4419600"/>
            <a:ext cx="389813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Rest of Asia</a:t>
            </a:r>
            <a:endParaRPr lang="en-US" sz="1500" dirty="0"/>
          </a:p>
        </p:txBody>
      </p:sp>
      <p:sp>
        <p:nvSpPr>
          <p:cNvPr id="23" name="Shape 16"/>
          <p:cNvSpPr/>
          <p:nvPr/>
        </p:nvSpPr>
        <p:spPr>
          <a:xfrm>
            <a:off x="6680200" y="4724400"/>
            <a:ext cx="1403350" cy="177800"/>
          </a:xfrm>
          <a:prstGeom prst="roundRect">
            <a:avLst>
              <a:gd name="adj" fmla="val 14286"/>
            </a:avLst>
          </a:prstGeom>
          <a:solidFill>
            <a:srgbClr val="E3A82B"/>
          </a:solidFill>
          <a:ln/>
        </p:spPr>
        <p:txBody>
          <a:bodyPr/>
          <a:lstStyle/>
          <a:p>
            <a:endParaRPr lang="en-IE"/>
          </a:p>
        </p:txBody>
      </p:sp>
      <p:sp>
        <p:nvSpPr>
          <p:cNvPr id="24" name="Text 17"/>
          <p:cNvSpPr/>
          <p:nvPr/>
        </p:nvSpPr>
        <p:spPr>
          <a:xfrm>
            <a:off x="10566400" y="4465340"/>
            <a:ext cx="812800" cy="41652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0F1B2D"/>
                </a:solidFill>
                <a:latin typeface="Space Grotesk" pitchFamily="34" charset="0"/>
                <a:ea typeface="Space Grotesk" pitchFamily="34" charset="-122"/>
                <a:cs typeface="Space Grotesk" pitchFamily="34" charset="-120"/>
              </a:rPr>
              <a:t>~15%</a:t>
            </a:r>
            <a:endParaRPr lang="en-US" sz="2200" dirty="0"/>
          </a:p>
        </p:txBody>
      </p:sp>
      <p:pic>
        <p:nvPicPr>
          <p:cNvPr id="25" name="Image 5" descr="Globe"/>
          <p:cNvPicPr>
            <a:picLocks noChangeAspect="1"/>
          </p:cNvPicPr>
          <p:nvPr/>
        </p:nvPicPr>
        <p:blipFill>
          <a:blip r:embed="rId8"/>
          <a:srcRect/>
          <a:stretch/>
        </p:blipFill>
        <p:spPr>
          <a:xfrm>
            <a:off x="4445000" y="5080000"/>
            <a:ext cx="406400" cy="406400"/>
          </a:xfrm>
          <a:prstGeom prst="rect">
            <a:avLst/>
          </a:prstGeom>
        </p:spPr>
      </p:pic>
      <p:sp>
        <p:nvSpPr>
          <p:cNvPr id="26" name="Text 18"/>
          <p:cNvSpPr/>
          <p:nvPr/>
        </p:nvSpPr>
        <p:spPr>
          <a:xfrm>
            <a:off x="6680200" y="5041900"/>
            <a:ext cx="389813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Everyone else, incl. Europe and the US</a:t>
            </a:r>
            <a:endParaRPr lang="en-US" sz="1500" dirty="0"/>
          </a:p>
        </p:txBody>
      </p:sp>
      <p:sp>
        <p:nvSpPr>
          <p:cNvPr id="27" name="Shape 19"/>
          <p:cNvSpPr/>
          <p:nvPr/>
        </p:nvSpPr>
        <p:spPr>
          <a:xfrm>
            <a:off x="6680200" y="5346700"/>
            <a:ext cx="1492250" cy="177800"/>
          </a:xfrm>
          <a:prstGeom prst="roundRect">
            <a:avLst>
              <a:gd name="adj" fmla="val 14286"/>
            </a:avLst>
          </a:prstGeom>
          <a:solidFill>
            <a:srgbClr val="8A8F98"/>
          </a:solidFill>
          <a:ln/>
        </p:spPr>
        <p:txBody>
          <a:bodyPr/>
          <a:lstStyle/>
          <a:p>
            <a:endParaRPr lang="en-IE"/>
          </a:p>
        </p:txBody>
      </p:sp>
      <p:sp>
        <p:nvSpPr>
          <p:cNvPr id="28" name="Text 20"/>
          <p:cNvSpPr/>
          <p:nvPr/>
        </p:nvSpPr>
        <p:spPr>
          <a:xfrm>
            <a:off x="10566400" y="5087640"/>
            <a:ext cx="812800" cy="41652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0F1B2D"/>
                </a:solidFill>
                <a:latin typeface="Space Grotesk" pitchFamily="34" charset="0"/>
                <a:ea typeface="Space Grotesk" pitchFamily="34" charset="-122"/>
                <a:cs typeface="Space Grotesk" pitchFamily="34" charset="-120"/>
              </a:rPr>
              <a:t>~16%</a:t>
            </a:r>
            <a:endParaRPr lang="en-US" sz="2200" dirty="0"/>
          </a:p>
        </p:txBody>
      </p:sp>
      <p:sp>
        <p:nvSpPr>
          <p:cNvPr id="29"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US EIA, June 2025. Crude oil through Hormuz: Asia 84%, the four named countries 69% (2024); China's share from Q1 2025. Approximate.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0F1B2D"/>
                </a:solidFill>
                <a:latin typeface="Space Grotesk" pitchFamily="34" charset="0"/>
                <a:ea typeface="Space Grotesk" pitchFamily="34" charset="-122"/>
                <a:cs typeface="Space Grotesk" pitchFamily="34" charset="-120"/>
              </a:rPr>
              <a:t>What we were told to expect</a:t>
            </a:r>
            <a:endParaRPr lang="en-US" sz="3600" dirty="0"/>
          </a:p>
        </p:txBody>
      </p:sp>
      <p:pic>
        <p:nvPicPr>
          <p:cNvPr id="3" name="Image 0" descr="Axios, 1 April 2026: Get ready for $200 a barrel oil prices if Hormuz stays closed"/>
          <p:cNvPicPr>
            <a:picLocks noChangeAspect="1"/>
          </p:cNvPicPr>
          <p:nvPr/>
        </p:nvPicPr>
        <p:blipFill>
          <a:blip r:embed="rId3"/>
          <a:srcRect l="-10" r="-10"/>
          <a:stretch/>
        </p:blipFill>
        <p:spPr>
          <a:xfrm rot="21480000">
            <a:off x="889000" y="1714500"/>
            <a:ext cx="4572000" cy="1377950"/>
          </a:xfrm>
          <a:prstGeom prst="rect">
            <a:avLst/>
          </a:prstGeom>
          <a:effectLst>
            <a:outerShdw blurRad="203200" dist="76200" dir="5400000" algn="bl" rotWithShape="0">
              <a:srgbClr val="0F1B2D">
                <a:alpha val="18000"/>
              </a:srgbClr>
            </a:outerShdw>
          </a:effectLst>
        </p:spPr>
      </p:pic>
      <p:pic>
        <p:nvPicPr>
          <p:cNvPr id="4" name="Image 1" descr="Al Jazeera: Shutdown of Hormuz Strait raises fears of soaring oil prices"/>
          <p:cNvPicPr>
            <a:picLocks noChangeAspect="1"/>
          </p:cNvPicPr>
          <p:nvPr/>
        </p:nvPicPr>
        <p:blipFill>
          <a:blip r:embed="rId4"/>
          <a:srcRect t="-55" b="-55"/>
          <a:stretch/>
        </p:blipFill>
        <p:spPr>
          <a:xfrm rot="90000">
            <a:off x="6096000" y="1663700"/>
            <a:ext cx="5207000" cy="1365250"/>
          </a:xfrm>
          <a:prstGeom prst="rect">
            <a:avLst/>
          </a:prstGeom>
          <a:effectLst>
            <a:outerShdw blurRad="203200" dist="76200" dir="5400000" algn="bl" rotWithShape="0">
              <a:srgbClr val="0F1B2D">
                <a:alpha val="18000"/>
              </a:srgbClr>
            </a:outerShdw>
          </a:effectLst>
        </p:spPr>
      </p:pic>
      <p:pic>
        <p:nvPicPr>
          <p:cNvPr id="5" name="Image 2" descr="CNBC, 6 May 2026: Iran war threatens jet fuel shortage that could disrupt summer travel in Asia and Europe"/>
          <p:cNvPicPr>
            <a:picLocks noChangeAspect="1"/>
          </p:cNvPicPr>
          <p:nvPr/>
        </p:nvPicPr>
        <p:blipFill>
          <a:blip r:embed="rId5"/>
          <a:srcRect l="-9" r="-9"/>
          <a:stretch/>
        </p:blipFill>
        <p:spPr>
          <a:xfrm rot="21540000">
            <a:off x="2095500" y="3302000"/>
            <a:ext cx="6350000" cy="1968500"/>
          </a:xfrm>
          <a:prstGeom prst="rect">
            <a:avLst/>
          </a:prstGeom>
          <a:effectLst>
            <a:outerShdw blurRad="203200" dist="76200" dir="5400000" algn="bl" rotWithShape="0">
              <a:srgbClr val="0F1B2D">
                <a:alpha val="18000"/>
              </a:srgbClr>
            </a:outerShdw>
          </a:effectLst>
        </p:spPr>
      </p:pic>
      <p:pic>
        <p:nvPicPr>
          <p:cNvPr id="6" name="Image 3" descr="Euronews, 27 March 2026: Is Europe sleepwalking into its worst gas crisis since 2022?"/>
          <p:cNvPicPr>
            <a:picLocks noChangeAspect="1"/>
          </p:cNvPicPr>
          <p:nvPr/>
        </p:nvPicPr>
        <p:blipFill>
          <a:blip r:embed="rId6"/>
          <a:srcRect l="-6" r="-6"/>
          <a:stretch/>
        </p:blipFill>
        <p:spPr>
          <a:xfrm rot="120000">
            <a:off x="7302500" y="4445000"/>
            <a:ext cx="4064000" cy="895350"/>
          </a:xfrm>
          <a:prstGeom prst="rect">
            <a:avLst/>
          </a:prstGeom>
          <a:effectLst>
            <a:outerShdw blurRad="203200" dist="76200" dir="5400000" algn="bl" rotWithShape="0">
              <a:srgbClr val="0F1B2D">
                <a:alpha val="18000"/>
              </a:srgbClr>
            </a:outerShdw>
          </a:effectLst>
        </p:spPr>
      </p:pic>
      <p:sp>
        <p:nvSpPr>
          <p:cNvPr id="7" name="Text 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Al Jazeera, 3 Mar 2026 · Axios, 1 Apr 2026 · Euronews, 27 Mar 2026 · CNBC, 6 May 2026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B39"/>
          </a:solidFill>
          <a:ln/>
        </p:spPr>
        <p:txBody>
          <a:bodyPr/>
          <a:lstStyle/>
          <a:p>
            <a:endParaRPr lang="en-IE"/>
          </a:p>
        </p:txBody>
      </p:sp>
      <p:sp>
        <p:nvSpPr>
          <p:cNvPr id="3" name="Text 1"/>
          <p:cNvSpPr/>
          <p:nvPr/>
        </p:nvSpPr>
        <p:spPr>
          <a:xfrm>
            <a:off x="812800" y="8128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E07B39"/>
                </a:solidFill>
                <a:latin typeface="IBM Plex Sans" pitchFamily="34" charset="0"/>
                <a:ea typeface="IBM Plex Sans" pitchFamily="34" charset="-122"/>
                <a:cs typeface="IBM Plex Sans" pitchFamily="34" charset="-120"/>
              </a:rPr>
              <a:t>WHAT ACTUALLY HAPPENED</a:t>
            </a:r>
            <a:endParaRPr lang="en-US" sz="1600" dirty="0"/>
          </a:p>
        </p:txBody>
      </p:sp>
      <p:sp>
        <p:nvSpPr>
          <p:cNvPr id="4" name="Text 2"/>
          <p:cNvSpPr>
            <a:spLocks noGrp="1"/>
          </p:cNvSpPr>
          <p:nvPr>
            <p:ph type="title"/>
          </p:nvPr>
        </p:nvSpPr>
        <p:spPr>
          <a:xfrm>
            <a:off x="812800" y="1249660"/>
            <a:ext cx="6409690" cy="11430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5F3EE"/>
                </a:solidFill>
                <a:latin typeface="Space Grotesk" pitchFamily="34" charset="0"/>
                <a:ea typeface="Space Grotesk" pitchFamily="34" charset="-122"/>
                <a:cs typeface="Space Grotesk" pitchFamily="34" charset="-120"/>
              </a:rPr>
              <a:t>The worst predictions didn't come true.</a:t>
            </a:r>
            <a:endParaRPr lang="en-US" sz="4000" dirty="0"/>
          </a:p>
        </p:txBody>
      </p:sp>
      <p:sp>
        <p:nvSpPr>
          <p:cNvPr id="5" name="Text 3"/>
          <p:cNvSpPr/>
          <p:nvPr/>
        </p:nvSpPr>
        <p:spPr>
          <a:xfrm>
            <a:off x="812800" y="4366369"/>
            <a:ext cx="9810750"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3CEDB"/>
                </a:solidFill>
                <a:latin typeface="IBM Plex Sans" pitchFamily="34" charset="0"/>
                <a:ea typeface="IBM Plex Sans" pitchFamily="34" charset="-122"/>
                <a:cs typeface="IBM Plex Sans" pitchFamily="34" charset="-120"/>
              </a:rPr>
              <a:t>So what did the forecasting models see?</a:t>
            </a:r>
            <a:endParaRPr lang="en-US" sz="2200" dirty="0"/>
          </a:p>
        </p:txBody>
      </p:sp>
      <p:sp>
        <p:nvSpPr>
          <p:cNvPr id="6" name="Text 4"/>
          <p:cNvSpPr/>
          <p:nvPr/>
        </p:nvSpPr>
        <p:spPr>
          <a:xfrm>
            <a:off x="812800" y="4907359"/>
            <a:ext cx="10137775" cy="960041"/>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5F3EE"/>
                </a:solidFill>
                <a:latin typeface="Space Grotesk" pitchFamily="34" charset="0"/>
                <a:ea typeface="Space Grotesk" pitchFamily="34" charset="-122"/>
                <a:cs typeface="Space Grotesk" pitchFamily="34" charset="-120"/>
              </a:rPr>
              <a:t>Did their reasoning shift </a:t>
            </a:r>
            <a:r>
              <a:rPr lang="en-US" sz="3200" b="1" dirty="0">
                <a:solidFill>
                  <a:srgbClr val="E07B39"/>
                </a:solidFill>
                <a:latin typeface="Space Grotesk" pitchFamily="34" charset="0"/>
                <a:ea typeface="Space Grotesk" pitchFamily="34" charset="-122"/>
                <a:cs typeface="Space Grotesk" pitchFamily="34" charset="-120"/>
              </a:rPr>
              <a:t>before</a:t>
            </a:r>
            <a:r>
              <a:rPr lang="en-US" sz="3200" b="1" dirty="0">
                <a:solidFill>
                  <a:srgbClr val="F5F3EE"/>
                </a:solidFill>
                <a:latin typeface="Space Grotesk" pitchFamily="34" charset="0"/>
                <a:ea typeface="Space Grotesk" pitchFamily="34" charset="-122"/>
                <a:cs typeface="Space Grotesk" pitchFamily="34" charset="-120"/>
              </a:rPr>
              <a:t> their forecasts went wrong?</a:t>
            </a:r>
            <a:endParaRPr lang="en-US" sz="3200" dirty="0"/>
          </a:p>
        </p:txBody>
      </p:sp>
      <p:pic>
        <p:nvPicPr>
          <p:cNvPr id="7" name="Image 0" descr="ECB Blog, 27 July 2026: Energy shock: why oil and gas prices have risen less than expected"/>
          <p:cNvPicPr>
            <a:picLocks noChangeAspect="1"/>
          </p:cNvPicPr>
          <p:nvPr/>
        </p:nvPicPr>
        <p:blipFill>
          <a:blip r:embed="rId3"/>
          <a:srcRect t="-59" b="-59"/>
          <a:stretch/>
        </p:blipFill>
        <p:spPr>
          <a:xfrm rot="90000">
            <a:off x="7493000" y="812800"/>
            <a:ext cx="3886200" cy="1568450"/>
          </a:xfrm>
          <a:prstGeom prst="rect">
            <a:avLst/>
          </a:prstGeom>
          <a:effectLst>
            <a:outerShdw blurRad="203200" dist="76200" dir="5400000" algn="bl" rotWithShape="0">
              <a:srgbClr val="000000">
                <a:alpha val="35000"/>
              </a:srgbClr>
            </a:outerShdw>
          </a:effectLst>
        </p:spPr>
      </p:pic>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1B8"/>
                </a:solidFill>
                <a:latin typeface="IBM Plex Sans" pitchFamily="34" charset="0"/>
                <a:ea typeface="IBM Plex Sans" pitchFamily="34" charset="-122"/>
                <a:cs typeface="IBM Plex Sans" pitchFamily="34" charset="-120"/>
              </a:rPr>
              <a:t>ECB Blog, 27 Jul 2026: oil peaked at just over +50%, where past shocks this size implied up to +105%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609775"/>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0F1B2D"/>
                </a:solidFill>
                <a:latin typeface="Space Grotesk" pitchFamily="34" charset="0"/>
                <a:ea typeface="Space Grotesk" pitchFamily="34" charset="-122"/>
                <a:cs typeface="Space Grotesk" pitchFamily="34" charset="-120"/>
              </a:rPr>
              <a:t>So we built our own model to find out</a:t>
            </a:r>
            <a:endParaRPr lang="en-US" sz="4000" dirty="0"/>
          </a:p>
        </p:txBody>
      </p:sp>
      <p:sp>
        <p:nvSpPr>
          <p:cNvPr id="3" name="Shape 1"/>
          <p:cNvSpPr/>
          <p:nvPr/>
        </p:nvSpPr>
        <p:spPr>
          <a:xfrm>
            <a:off x="815975" y="2628950"/>
            <a:ext cx="2181225" cy="2616101"/>
          </a:xfrm>
          <a:prstGeom prst="roundRect">
            <a:avLst>
              <a:gd name="adj" fmla="val 4512"/>
            </a:avLst>
          </a:prstGeom>
          <a:solidFill>
            <a:srgbClr val="FFFEFB"/>
          </a:solidFill>
          <a:ln w="6350">
            <a:solidFill>
              <a:srgbClr val="DED9CE"/>
            </a:solidFill>
            <a:prstDash val="solid"/>
          </a:ln>
        </p:spPr>
        <p:txBody>
          <a:bodyPr/>
          <a:lstStyle/>
          <a:p>
            <a:endParaRPr lang="en-IE"/>
          </a:p>
        </p:txBody>
      </p:sp>
      <p:sp>
        <p:nvSpPr>
          <p:cNvPr id="4" name="Text 2"/>
          <p:cNvSpPr/>
          <p:nvPr/>
        </p:nvSpPr>
        <p:spPr>
          <a:xfrm>
            <a:off x="1022350" y="2835325"/>
            <a:ext cx="182152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A1E"/>
                </a:solidFill>
                <a:latin typeface="IBM Plex Sans" pitchFamily="34" charset="0"/>
                <a:ea typeface="IBM Plex Sans" pitchFamily="34" charset="-122"/>
                <a:cs typeface="IBM Plex Sans" pitchFamily="34" charset="-120"/>
              </a:rPr>
              <a:t>DATA</a:t>
            </a:r>
            <a:endParaRPr lang="en-US" sz="1200" dirty="0"/>
          </a:p>
        </p:txBody>
      </p:sp>
      <p:pic>
        <p:nvPicPr>
          <p:cNvPr id="5" name="Image 0" descr="Flag of Germany"/>
          <p:cNvPicPr>
            <a:picLocks noChangeAspect="1"/>
          </p:cNvPicPr>
          <p:nvPr/>
        </p:nvPicPr>
        <p:blipFill>
          <a:blip r:embed="rId3"/>
          <a:srcRect/>
          <a:stretch/>
        </p:blipFill>
        <p:spPr>
          <a:xfrm>
            <a:off x="1022350" y="3213745"/>
            <a:ext cx="381000" cy="228600"/>
          </a:xfrm>
          <a:prstGeom prst="rect">
            <a:avLst/>
          </a:prstGeom>
        </p:spPr>
      </p:pic>
      <p:pic>
        <p:nvPicPr>
          <p:cNvPr id="6" name="Image 1" descr="Lightning"/>
          <p:cNvPicPr>
            <a:picLocks noChangeAspect="1"/>
          </p:cNvPicPr>
          <p:nvPr/>
        </p:nvPicPr>
        <p:blipFill>
          <a:blip r:embed="rId4"/>
          <a:srcRect/>
          <a:stretch/>
        </p:blipFill>
        <p:spPr>
          <a:xfrm>
            <a:off x="1479550" y="3175645"/>
            <a:ext cx="304800" cy="304800"/>
          </a:xfrm>
          <a:prstGeom prst="rect">
            <a:avLst/>
          </a:prstGeom>
        </p:spPr>
      </p:pic>
      <p:pic>
        <p:nvPicPr>
          <p:cNvPr id="7" name="Image 2" descr="Wind turbine"/>
          <p:cNvPicPr>
            <a:picLocks noChangeAspect="1"/>
          </p:cNvPicPr>
          <p:nvPr/>
        </p:nvPicPr>
        <p:blipFill>
          <a:blip r:embed="rId5"/>
          <a:srcRect/>
          <a:stretch/>
        </p:blipFill>
        <p:spPr>
          <a:xfrm>
            <a:off x="1860550" y="3175645"/>
            <a:ext cx="304800" cy="304800"/>
          </a:xfrm>
          <a:prstGeom prst="rect">
            <a:avLst/>
          </a:prstGeom>
        </p:spPr>
      </p:pic>
      <p:pic>
        <p:nvPicPr>
          <p:cNvPr id="8" name="Image 3" descr="Sun"/>
          <p:cNvPicPr>
            <a:picLocks noChangeAspect="1"/>
          </p:cNvPicPr>
          <p:nvPr/>
        </p:nvPicPr>
        <p:blipFill>
          <a:blip r:embed="rId6"/>
          <a:srcRect/>
          <a:stretch/>
        </p:blipFill>
        <p:spPr>
          <a:xfrm>
            <a:off x="2241550" y="3175645"/>
            <a:ext cx="304800" cy="304800"/>
          </a:xfrm>
          <a:prstGeom prst="rect">
            <a:avLst/>
          </a:prstGeom>
        </p:spPr>
      </p:pic>
      <p:sp>
        <p:nvSpPr>
          <p:cNvPr id="9" name="Text 3"/>
          <p:cNvSpPr/>
          <p:nvPr/>
        </p:nvSpPr>
        <p:spPr>
          <a:xfrm>
            <a:off x="1022350" y="3607445"/>
            <a:ext cx="1821529"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0F1B2D"/>
                </a:solidFill>
                <a:latin typeface="Space Grotesk" pitchFamily="34" charset="0"/>
                <a:ea typeface="Space Grotesk" pitchFamily="34" charset="-122"/>
                <a:cs typeface="Space Grotesk" pitchFamily="34" charset="-120"/>
              </a:rPr>
              <a:t>German electricity</a:t>
            </a:r>
            <a:endParaRPr lang="en-US" sz="2000" dirty="0"/>
          </a:p>
        </p:txBody>
      </p:sp>
      <p:sp>
        <p:nvSpPr>
          <p:cNvPr id="10" name="Text 4"/>
          <p:cNvSpPr/>
          <p:nvPr/>
        </p:nvSpPr>
        <p:spPr>
          <a:xfrm>
            <a:off x="1022350" y="4318645"/>
            <a:ext cx="1821529"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Hourly prices, plus wind, solar and demand forecasts</a:t>
            </a:r>
            <a:endParaRPr lang="en-US" sz="1400" dirty="0"/>
          </a:p>
        </p:txBody>
      </p:sp>
      <p:pic>
        <p:nvPicPr>
          <p:cNvPr id="11" name="Image 4" descr="arrow-right"/>
          <p:cNvPicPr>
            <a:picLocks noChangeAspect="1"/>
          </p:cNvPicPr>
          <p:nvPr/>
        </p:nvPicPr>
        <p:blipFill>
          <a:blip r:embed="rId7"/>
          <a:srcRect/>
          <a:stretch/>
        </p:blipFill>
        <p:spPr>
          <a:xfrm>
            <a:off x="3127375" y="3848100"/>
            <a:ext cx="355600" cy="177800"/>
          </a:xfrm>
          <a:prstGeom prst="rect">
            <a:avLst/>
          </a:prstGeom>
        </p:spPr>
      </p:pic>
      <p:sp>
        <p:nvSpPr>
          <p:cNvPr id="12" name="Shape 5"/>
          <p:cNvSpPr/>
          <p:nvPr/>
        </p:nvSpPr>
        <p:spPr>
          <a:xfrm>
            <a:off x="3613150" y="2670175"/>
            <a:ext cx="2181225" cy="2533650"/>
          </a:xfrm>
          <a:prstGeom prst="roundRect">
            <a:avLst>
              <a:gd name="adj" fmla="val 4512"/>
            </a:avLst>
          </a:prstGeom>
          <a:solidFill>
            <a:srgbClr val="FFFEFB"/>
          </a:solidFill>
          <a:ln w="6350">
            <a:solidFill>
              <a:srgbClr val="DED9CE"/>
            </a:solidFill>
            <a:prstDash val="solid"/>
          </a:ln>
        </p:spPr>
        <p:txBody>
          <a:bodyPr/>
          <a:lstStyle/>
          <a:p>
            <a:endParaRPr lang="en-IE"/>
          </a:p>
        </p:txBody>
      </p:sp>
      <p:sp>
        <p:nvSpPr>
          <p:cNvPr id="13" name="Text 6"/>
          <p:cNvSpPr/>
          <p:nvPr/>
        </p:nvSpPr>
        <p:spPr>
          <a:xfrm>
            <a:off x="3819525" y="2876550"/>
            <a:ext cx="182152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A1E"/>
                </a:solidFill>
                <a:latin typeface="IBM Plex Sans" pitchFamily="34" charset="0"/>
                <a:ea typeface="IBM Plex Sans" pitchFamily="34" charset="-122"/>
                <a:cs typeface="IBM Plex Sans" pitchFamily="34" charset="-120"/>
              </a:rPr>
              <a:t>PREDICT</a:t>
            </a:r>
            <a:endParaRPr lang="en-US" sz="1200" dirty="0"/>
          </a:p>
        </p:txBody>
      </p:sp>
      <p:pic>
        <p:nvPicPr>
          <p:cNvPr id="14" name="Image 5" descr="Decision tree"/>
          <p:cNvPicPr>
            <a:picLocks noChangeAspect="1"/>
          </p:cNvPicPr>
          <p:nvPr/>
        </p:nvPicPr>
        <p:blipFill>
          <a:blip r:embed="rId8"/>
          <a:srcRect l="-1042" r="-1042"/>
          <a:stretch/>
        </p:blipFill>
        <p:spPr>
          <a:xfrm>
            <a:off x="3819525" y="3216870"/>
            <a:ext cx="355600" cy="304800"/>
          </a:xfrm>
          <a:prstGeom prst="rect">
            <a:avLst/>
          </a:prstGeom>
        </p:spPr>
      </p:pic>
      <p:sp>
        <p:nvSpPr>
          <p:cNvPr id="15" name="Text 7"/>
          <p:cNvSpPr/>
          <p:nvPr/>
        </p:nvSpPr>
        <p:spPr>
          <a:xfrm>
            <a:off x="3819525" y="3648670"/>
            <a:ext cx="1821529"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0F1B2D"/>
                </a:solidFill>
                <a:latin typeface="Space Grotesk" pitchFamily="34" charset="0"/>
                <a:ea typeface="Space Grotesk" pitchFamily="34" charset="-122"/>
                <a:cs typeface="Space Grotesk" pitchFamily="34" charset="-120"/>
              </a:rPr>
              <a:t>LightGBM</a:t>
            </a:r>
            <a:endParaRPr lang="en-US" sz="2000" dirty="0"/>
          </a:p>
        </p:txBody>
      </p:sp>
      <p:sp>
        <p:nvSpPr>
          <p:cNvPr id="16" name="Text 8"/>
          <p:cNvSpPr/>
          <p:nvPr/>
        </p:nvSpPr>
        <p:spPr>
          <a:xfrm>
            <a:off x="3819525" y="4067770"/>
            <a:ext cx="1821529"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Forecasts tomorrow's 24 hourly prices</a:t>
            </a:r>
            <a:endParaRPr lang="en-US" sz="1400" dirty="0"/>
          </a:p>
        </p:txBody>
      </p:sp>
      <p:pic>
        <p:nvPicPr>
          <p:cNvPr id="17" name="Image 6" descr="arrow-right"/>
          <p:cNvPicPr>
            <a:picLocks noChangeAspect="1"/>
          </p:cNvPicPr>
          <p:nvPr/>
        </p:nvPicPr>
        <p:blipFill>
          <a:blip r:embed="rId7"/>
          <a:srcRect/>
          <a:stretch/>
        </p:blipFill>
        <p:spPr>
          <a:xfrm>
            <a:off x="5924550" y="3848100"/>
            <a:ext cx="355600" cy="177800"/>
          </a:xfrm>
          <a:prstGeom prst="rect">
            <a:avLst/>
          </a:prstGeom>
        </p:spPr>
      </p:pic>
      <p:sp>
        <p:nvSpPr>
          <p:cNvPr id="18" name="Shape 9"/>
          <p:cNvSpPr/>
          <p:nvPr/>
        </p:nvSpPr>
        <p:spPr>
          <a:xfrm>
            <a:off x="6410325" y="2670175"/>
            <a:ext cx="2181225" cy="2533650"/>
          </a:xfrm>
          <a:prstGeom prst="roundRect">
            <a:avLst>
              <a:gd name="adj" fmla="val 4512"/>
            </a:avLst>
          </a:prstGeom>
          <a:solidFill>
            <a:srgbClr val="FFFEFB"/>
          </a:solidFill>
          <a:ln w="6350">
            <a:solidFill>
              <a:srgbClr val="DED9CE"/>
            </a:solidFill>
            <a:prstDash val="solid"/>
          </a:ln>
        </p:spPr>
        <p:txBody>
          <a:bodyPr/>
          <a:lstStyle/>
          <a:p>
            <a:endParaRPr lang="en-IE"/>
          </a:p>
        </p:txBody>
      </p:sp>
      <p:sp>
        <p:nvSpPr>
          <p:cNvPr id="19" name="Text 10"/>
          <p:cNvSpPr/>
          <p:nvPr/>
        </p:nvSpPr>
        <p:spPr>
          <a:xfrm>
            <a:off x="6616700" y="2876550"/>
            <a:ext cx="182152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A1E"/>
                </a:solidFill>
                <a:latin typeface="IBM Plex Sans" pitchFamily="34" charset="0"/>
                <a:ea typeface="IBM Plex Sans" pitchFamily="34" charset="-122"/>
                <a:cs typeface="IBM Plex Sans" pitchFamily="34" charset="-120"/>
              </a:rPr>
              <a:t>EXPLAIN</a:t>
            </a:r>
            <a:endParaRPr lang="en-US" sz="1200" dirty="0"/>
          </a:p>
        </p:txBody>
      </p:sp>
      <p:pic>
        <p:nvPicPr>
          <p:cNvPr id="20" name="Image 7" descr="Search"/>
          <p:cNvPicPr>
            <a:picLocks noChangeAspect="1"/>
          </p:cNvPicPr>
          <p:nvPr/>
        </p:nvPicPr>
        <p:blipFill>
          <a:blip r:embed="rId9"/>
          <a:srcRect/>
          <a:stretch/>
        </p:blipFill>
        <p:spPr>
          <a:xfrm>
            <a:off x="6616700" y="3216870"/>
            <a:ext cx="304800" cy="304800"/>
          </a:xfrm>
          <a:prstGeom prst="rect">
            <a:avLst/>
          </a:prstGeom>
        </p:spPr>
      </p:pic>
      <p:sp>
        <p:nvSpPr>
          <p:cNvPr id="21" name="Text 11"/>
          <p:cNvSpPr/>
          <p:nvPr/>
        </p:nvSpPr>
        <p:spPr>
          <a:xfrm>
            <a:off x="6616700" y="3648670"/>
            <a:ext cx="1821529"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0F1B2D"/>
                </a:solidFill>
                <a:latin typeface="Space Grotesk" pitchFamily="34" charset="0"/>
                <a:ea typeface="Space Grotesk" pitchFamily="34" charset="-122"/>
                <a:cs typeface="Space Grotesk" pitchFamily="34" charset="-120"/>
              </a:rPr>
              <a:t>SHAP</a:t>
            </a:r>
            <a:endParaRPr lang="en-US" sz="2000" dirty="0"/>
          </a:p>
        </p:txBody>
      </p:sp>
      <p:sp>
        <p:nvSpPr>
          <p:cNvPr id="22" name="Text 12"/>
          <p:cNvSpPr/>
          <p:nvPr/>
        </p:nvSpPr>
        <p:spPr>
          <a:xfrm>
            <a:off x="6616700" y="4067770"/>
            <a:ext cx="1821529"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Which inputs each forecast relied on</a:t>
            </a:r>
            <a:endParaRPr lang="en-US" sz="1400" dirty="0"/>
          </a:p>
        </p:txBody>
      </p:sp>
      <p:pic>
        <p:nvPicPr>
          <p:cNvPr id="23" name="Image 8" descr="arrow-right"/>
          <p:cNvPicPr>
            <a:picLocks noChangeAspect="1"/>
          </p:cNvPicPr>
          <p:nvPr/>
        </p:nvPicPr>
        <p:blipFill>
          <a:blip r:embed="rId7"/>
          <a:srcRect/>
          <a:stretch/>
        </p:blipFill>
        <p:spPr>
          <a:xfrm>
            <a:off x="8721725" y="3848100"/>
            <a:ext cx="355600" cy="177800"/>
          </a:xfrm>
          <a:prstGeom prst="rect">
            <a:avLst/>
          </a:prstGeom>
        </p:spPr>
      </p:pic>
      <p:sp>
        <p:nvSpPr>
          <p:cNvPr id="24" name="Shape 13"/>
          <p:cNvSpPr/>
          <p:nvPr/>
        </p:nvSpPr>
        <p:spPr>
          <a:xfrm>
            <a:off x="9204325" y="2667000"/>
            <a:ext cx="2174875" cy="2540000"/>
          </a:xfrm>
          <a:prstGeom prst="roundRect">
            <a:avLst>
              <a:gd name="adj" fmla="val 4672"/>
            </a:avLst>
          </a:prstGeom>
          <a:solidFill>
            <a:srgbClr val="0F1B2D"/>
          </a:solidFill>
          <a:ln/>
        </p:spPr>
        <p:txBody>
          <a:bodyPr/>
          <a:lstStyle/>
          <a:p>
            <a:endParaRPr lang="en-IE"/>
          </a:p>
        </p:txBody>
      </p:sp>
      <p:sp>
        <p:nvSpPr>
          <p:cNvPr id="25" name="Text 14"/>
          <p:cNvSpPr/>
          <p:nvPr/>
        </p:nvSpPr>
        <p:spPr>
          <a:xfrm>
            <a:off x="9407525" y="2870200"/>
            <a:ext cx="182152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07B39"/>
                </a:solidFill>
                <a:latin typeface="IBM Plex Sans" pitchFamily="34" charset="0"/>
                <a:ea typeface="IBM Plex Sans" pitchFamily="34" charset="-122"/>
                <a:cs typeface="IBM Plex Sans" pitchFamily="34" charset="-120"/>
              </a:rPr>
              <a:t>MEASURE</a:t>
            </a:r>
            <a:endParaRPr lang="en-US" sz="1200" dirty="0"/>
          </a:p>
        </p:txBody>
      </p:sp>
      <p:pic>
        <p:nvPicPr>
          <p:cNvPr id="26" name="Image 9" descr="Activity"/>
          <p:cNvPicPr>
            <a:picLocks noChangeAspect="1"/>
          </p:cNvPicPr>
          <p:nvPr/>
        </p:nvPicPr>
        <p:blipFill>
          <a:blip r:embed="rId10"/>
          <a:srcRect/>
          <a:stretch/>
        </p:blipFill>
        <p:spPr>
          <a:xfrm>
            <a:off x="9407525" y="3210520"/>
            <a:ext cx="304800" cy="304800"/>
          </a:xfrm>
          <a:prstGeom prst="rect">
            <a:avLst/>
          </a:prstGeom>
        </p:spPr>
      </p:pic>
      <p:sp>
        <p:nvSpPr>
          <p:cNvPr id="27" name="Text 15"/>
          <p:cNvSpPr/>
          <p:nvPr/>
        </p:nvSpPr>
        <p:spPr>
          <a:xfrm>
            <a:off x="9407525" y="3642320"/>
            <a:ext cx="1821529"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5F3EE"/>
                </a:solidFill>
                <a:latin typeface="Space Grotesk" pitchFamily="34" charset="0"/>
                <a:ea typeface="Space Grotesk" pitchFamily="34" charset="-122"/>
                <a:cs typeface="Space Grotesk" pitchFamily="34" charset="-120"/>
              </a:rPr>
              <a:t>Weighted tau</a:t>
            </a:r>
            <a:endParaRPr lang="en-US" sz="2000" dirty="0"/>
          </a:p>
        </p:txBody>
      </p:sp>
      <p:sp>
        <p:nvSpPr>
          <p:cNvPr id="28" name="Text 16"/>
          <p:cNvSpPr/>
          <p:nvPr/>
        </p:nvSpPr>
        <p:spPr>
          <a:xfrm>
            <a:off x="9407525" y="4061420"/>
            <a:ext cx="1821529"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3CEDB"/>
                </a:solidFill>
                <a:latin typeface="IBM Plex Sans" pitchFamily="34" charset="0"/>
                <a:ea typeface="IBM Plex Sans" pitchFamily="34" charset="-122"/>
                <a:cs typeface="IBM Plex Sans" pitchFamily="34" charset="-120"/>
              </a:rPr>
              <a:t>How much that changed, every two weeks</a:t>
            </a:r>
            <a:endParaRPr lang="en-US" sz="1400" dirty="0"/>
          </a:p>
        </p:txBody>
      </p:sp>
      <p:sp>
        <p:nvSpPr>
          <p:cNvPr id="2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LightGBM + SHAP on German electricity prices follows Trebbien et al. 2023, so we start from a setup known to work.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0F1B2D"/>
                </a:solidFill>
                <a:latin typeface="Space Grotesk" pitchFamily="34" charset="0"/>
                <a:ea typeface="Space Grotesk" pitchFamily="34" charset="-122"/>
                <a:cs typeface="Space Grotesk" pitchFamily="34" charset="-120"/>
              </a:rPr>
              <a:t>We modelled electricity prices, not oil. </a:t>
            </a:r>
            <a:r>
              <a:rPr lang="en-US" sz="3600" b="1" i="0" dirty="0">
                <a:solidFill>
                  <a:srgbClr val="B85A1E"/>
                </a:solidFill>
                <a:latin typeface="Space Grotesk" pitchFamily="34" charset="0"/>
                <a:ea typeface="Space Grotesk" pitchFamily="34" charset="-122"/>
                <a:cs typeface="Space Grotesk" pitchFamily="34" charset="-120"/>
              </a:rPr>
              <a:t>Why?</a:t>
            </a:r>
            <a:endParaRPr lang="en-US" sz="3600" dirty="0"/>
          </a:p>
        </p:txBody>
      </p:sp>
      <p:sp>
        <p:nvSpPr>
          <p:cNvPr id="3" name="Shape 1"/>
          <p:cNvSpPr/>
          <p:nvPr/>
        </p:nvSpPr>
        <p:spPr>
          <a:xfrm>
            <a:off x="815975" y="1697335"/>
            <a:ext cx="6343650" cy="1332210"/>
          </a:xfrm>
          <a:prstGeom prst="roundRect">
            <a:avLst>
              <a:gd name="adj" fmla="val 7388"/>
            </a:avLst>
          </a:prstGeom>
          <a:solidFill>
            <a:srgbClr val="FFFEFB"/>
          </a:solidFill>
          <a:ln w="6350">
            <a:solidFill>
              <a:srgbClr val="DED9CE"/>
            </a:solidFill>
            <a:prstDash val="solid"/>
          </a:ln>
        </p:spPr>
        <p:txBody>
          <a:bodyPr/>
          <a:lstStyle/>
          <a:p>
            <a:endParaRPr lang="en-IE"/>
          </a:p>
        </p:txBody>
      </p:sp>
      <p:pic>
        <p:nvPicPr>
          <p:cNvPr id="4" name="Image 0" descr="Oil barrel with a red cross"/>
          <p:cNvPicPr>
            <a:picLocks noChangeAspect="1"/>
          </p:cNvPicPr>
          <p:nvPr/>
        </p:nvPicPr>
        <p:blipFill>
          <a:blip r:embed="rId3"/>
          <a:srcRect t="-29671" b="-29671"/>
          <a:stretch/>
        </p:blipFill>
        <p:spPr>
          <a:xfrm>
            <a:off x="1073150" y="2007840"/>
            <a:ext cx="446336" cy="711200"/>
          </a:xfrm>
          <a:prstGeom prst="rect">
            <a:avLst/>
          </a:prstGeom>
        </p:spPr>
      </p:pic>
      <p:sp>
        <p:nvSpPr>
          <p:cNvPr id="5" name="Text 2"/>
          <p:cNvSpPr/>
          <p:nvPr/>
        </p:nvSpPr>
        <p:spPr>
          <a:xfrm>
            <a:off x="1748086" y="1903710"/>
            <a:ext cx="530899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1B2D"/>
                </a:solidFill>
                <a:latin typeface="Space Grotesk" pitchFamily="34" charset="0"/>
                <a:ea typeface="Space Grotesk" pitchFamily="34" charset="-122"/>
                <a:cs typeface="Space Grotesk" pitchFamily="34" charset="-120"/>
              </a:rPr>
              <a:t>Oil price: too obvious</a:t>
            </a:r>
            <a:endParaRPr lang="en-US" sz="2200" dirty="0"/>
          </a:p>
        </p:txBody>
      </p:sp>
      <p:sp>
        <p:nvSpPr>
          <p:cNvPr id="6" name="Text 3"/>
          <p:cNvSpPr/>
          <p:nvPr/>
        </p:nvSpPr>
        <p:spPr>
          <a:xfrm>
            <a:off x="1748086" y="2289770"/>
            <a:ext cx="530899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The shock is the oil price itself. A model of it would obviously break, and that teaches us nothing.</a:t>
            </a:r>
            <a:endParaRPr lang="en-US" sz="1500" dirty="0"/>
          </a:p>
        </p:txBody>
      </p:sp>
      <p:sp>
        <p:nvSpPr>
          <p:cNvPr id="7" name="Shape 4"/>
          <p:cNvSpPr/>
          <p:nvPr/>
        </p:nvSpPr>
        <p:spPr>
          <a:xfrm>
            <a:off x="815975" y="3188295"/>
            <a:ext cx="6343650" cy="1332210"/>
          </a:xfrm>
          <a:prstGeom prst="roundRect">
            <a:avLst>
              <a:gd name="adj" fmla="val 7388"/>
            </a:avLst>
          </a:prstGeom>
          <a:solidFill>
            <a:srgbClr val="FFFEFB"/>
          </a:solidFill>
          <a:ln w="6350">
            <a:solidFill>
              <a:srgbClr val="DED9CE"/>
            </a:solidFill>
            <a:prstDash val="solid"/>
          </a:ln>
        </p:spPr>
        <p:txBody>
          <a:bodyPr/>
          <a:lstStyle/>
          <a:p>
            <a:endParaRPr lang="en-IE"/>
          </a:p>
        </p:txBody>
      </p:sp>
      <p:pic>
        <p:nvPicPr>
          <p:cNvPr id="8" name="Image 1" descr="Lightning bolt with a green tick"/>
          <p:cNvPicPr>
            <a:picLocks noChangeAspect="1"/>
          </p:cNvPicPr>
          <p:nvPr/>
        </p:nvPicPr>
        <p:blipFill>
          <a:blip r:embed="rId4"/>
          <a:srcRect t="-20607" b="-20607"/>
          <a:stretch/>
        </p:blipFill>
        <p:spPr>
          <a:xfrm>
            <a:off x="1073150" y="3498800"/>
            <a:ext cx="503634" cy="711200"/>
          </a:xfrm>
          <a:prstGeom prst="rect">
            <a:avLst/>
          </a:prstGeom>
        </p:spPr>
      </p:pic>
      <p:sp>
        <p:nvSpPr>
          <p:cNvPr id="9" name="Text 5"/>
          <p:cNvSpPr/>
          <p:nvPr/>
        </p:nvSpPr>
        <p:spPr>
          <a:xfrm>
            <a:off x="1805384" y="3394670"/>
            <a:ext cx="524997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1B2D"/>
                </a:solidFill>
                <a:latin typeface="Space Grotesk" pitchFamily="34" charset="0"/>
                <a:ea typeface="Space Grotesk" pitchFamily="34" charset="-122"/>
                <a:cs typeface="Space Grotesk" pitchFamily="34" charset="-120"/>
              </a:rPr>
              <a:t>Electricity price: one step removed</a:t>
            </a:r>
            <a:endParaRPr lang="en-US" sz="2200" dirty="0"/>
          </a:p>
        </p:txBody>
      </p:sp>
      <p:sp>
        <p:nvSpPr>
          <p:cNvPr id="10" name="Text 6"/>
          <p:cNvSpPr/>
          <p:nvPr/>
        </p:nvSpPr>
        <p:spPr>
          <a:xfrm>
            <a:off x="1805384" y="3780730"/>
            <a:ext cx="524997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It feels the shock indirectly, through fuel costs. That's how most real systems get hit.</a:t>
            </a:r>
            <a:endParaRPr lang="en-US" sz="1500" dirty="0"/>
          </a:p>
        </p:txBody>
      </p:sp>
      <p:sp>
        <p:nvSpPr>
          <p:cNvPr id="11" name="Shape 7"/>
          <p:cNvSpPr/>
          <p:nvPr/>
        </p:nvSpPr>
        <p:spPr>
          <a:xfrm>
            <a:off x="7366000" y="1694160"/>
            <a:ext cx="4013200" cy="1635671"/>
          </a:xfrm>
          <a:prstGeom prst="roundRect">
            <a:avLst>
              <a:gd name="adj" fmla="val 6212"/>
            </a:avLst>
          </a:prstGeom>
          <a:solidFill>
            <a:srgbClr val="0F1B2D"/>
          </a:solidFill>
          <a:ln/>
        </p:spPr>
        <p:txBody>
          <a:bodyPr/>
          <a:lstStyle/>
          <a:p>
            <a:endParaRPr lang="en-IE"/>
          </a:p>
        </p:txBody>
      </p:sp>
      <p:pic>
        <p:nvPicPr>
          <p:cNvPr id="12" name="Image 2" descr="Database"/>
          <p:cNvPicPr>
            <a:picLocks noChangeAspect="1"/>
          </p:cNvPicPr>
          <p:nvPr/>
        </p:nvPicPr>
        <p:blipFill>
          <a:blip r:embed="rId5"/>
          <a:srcRect/>
          <a:stretch/>
        </p:blipFill>
        <p:spPr>
          <a:xfrm>
            <a:off x="7569200" y="1897360"/>
            <a:ext cx="304800" cy="304800"/>
          </a:xfrm>
          <a:prstGeom prst="rect">
            <a:avLst/>
          </a:prstGeom>
        </p:spPr>
      </p:pic>
      <p:sp>
        <p:nvSpPr>
          <p:cNvPr id="13" name="Text 8"/>
          <p:cNvSpPr/>
          <p:nvPr/>
        </p:nvSpPr>
        <p:spPr>
          <a:xfrm>
            <a:off x="7569200" y="2278360"/>
            <a:ext cx="371500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Space Grotesk" pitchFamily="34" charset="0"/>
                <a:ea typeface="Space Grotesk" pitchFamily="34" charset="-122"/>
                <a:cs typeface="Space Grotesk" pitchFamily="34" charset="-120"/>
              </a:rPr>
              <a:t>Plenty of open data</a:t>
            </a:r>
            <a:endParaRPr lang="en-US" sz="1800" dirty="0"/>
          </a:p>
        </p:txBody>
      </p:sp>
      <p:sp>
        <p:nvSpPr>
          <p:cNvPr id="14" name="Text 9"/>
          <p:cNvSpPr/>
          <p:nvPr/>
        </p:nvSpPr>
        <p:spPr>
          <a:xfrm>
            <a:off x="7569200" y="2628850"/>
            <a:ext cx="3715004"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B"/>
                </a:solidFill>
                <a:latin typeface="IBM Plex Sans" pitchFamily="34" charset="0"/>
                <a:ea typeface="IBM Plex Sans" pitchFamily="34" charset="-122"/>
                <a:cs typeface="IBM Plex Sans" pitchFamily="34" charset="-120"/>
              </a:rPr>
              <a:t>Germany publishes a price for every hour, free to use: 336 prices per fortnight.</a:t>
            </a:r>
            <a:endParaRPr lang="en-US" sz="1400" dirty="0"/>
          </a:p>
        </p:txBody>
      </p:sp>
      <p:sp>
        <p:nvSpPr>
          <p:cNvPr id="15" name="Shape 10"/>
          <p:cNvSpPr/>
          <p:nvPr/>
        </p:nvSpPr>
        <p:spPr>
          <a:xfrm>
            <a:off x="7366000" y="3482231"/>
            <a:ext cx="4013200" cy="1635671"/>
          </a:xfrm>
          <a:prstGeom prst="roundRect">
            <a:avLst>
              <a:gd name="adj" fmla="val 6212"/>
            </a:avLst>
          </a:prstGeom>
          <a:solidFill>
            <a:srgbClr val="0F1B2D"/>
          </a:solidFill>
          <a:ln/>
        </p:spPr>
        <p:txBody>
          <a:bodyPr/>
          <a:lstStyle/>
          <a:p>
            <a:endParaRPr lang="en-IE"/>
          </a:p>
        </p:txBody>
      </p:sp>
      <p:pic>
        <p:nvPicPr>
          <p:cNvPr id="16" name="Image 3" descr="Link"/>
          <p:cNvPicPr>
            <a:picLocks noChangeAspect="1"/>
          </p:cNvPicPr>
          <p:nvPr/>
        </p:nvPicPr>
        <p:blipFill>
          <a:blip r:embed="rId6"/>
          <a:srcRect/>
          <a:stretch/>
        </p:blipFill>
        <p:spPr>
          <a:xfrm>
            <a:off x="7569200" y="3685431"/>
            <a:ext cx="304800" cy="304800"/>
          </a:xfrm>
          <a:prstGeom prst="rect">
            <a:avLst/>
          </a:prstGeom>
        </p:spPr>
      </p:pic>
      <p:sp>
        <p:nvSpPr>
          <p:cNvPr id="17" name="Text 11"/>
          <p:cNvSpPr/>
          <p:nvPr/>
        </p:nvSpPr>
        <p:spPr>
          <a:xfrm>
            <a:off x="7569200" y="4066431"/>
            <a:ext cx="371500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Space Grotesk" pitchFamily="34" charset="0"/>
                <a:ea typeface="Space Grotesk" pitchFamily="34" charset="-122"/>
                <a:cs typeface="Space Grotesk" pitchFamily="34" charset="-120"/>
              </a:rPr>
              <a:t>The link is proven</a:t>
            </a:r>
            <a:endParaRPr lang="en-US" sz="1800" dirty="0"/>
          </a:p>
        </p:txBody>
      </p:sp>
      <p:sp>
        <p:nvSpPr>
          <p:cNvPr id="18" name="Text 12"/>
          <p:cNvSpPr/>
          <p:nvPr/>
        </p:nvSpPr>
        <p:spPr>
          <a:xfrm>
            <a:off x="7569200" y="4416921"/>
            <a:ext cx="3715004"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B"/>
                </a:solidFill>
                <a:latin typeface="IBM Plex Sans" pitchFamily="34" charset="0"/>
                <a:ea typeface="IBM Plex Sans" pitchFamily="34" charset="-122"/>
                <a:cs typeface="IBM Plex Sans" pitchFamily="34" charset="-120"/>
              </a:rPr>
              <a:t>Fuel prices are among the top drivers of German power prices (Trebbien et al. 2023).</a:t>
            </a:r>
            <a:endParaRPr lang="en-US" sz="1400" dirty="0"/>
          </a:p>
        </p:txBody>
      </p:sp>
      <p:sp>
        <p:nvSpPr>
          <p:cNvPr id="19" name="Text 13"/>
          <p:cNvSpPr/>
          <p:nvPr/>
        </p:nvSpPr>
        <p:spPr>
          <a:xfrm>
            <a:off x="812800" y="5523855"/>
            <a:ext cx="2257425" cy="392410"/>
          </a:xfrm>
          <a:prstGeom prst="roundRect">
            <a:avLst>
              <a:gd name="adj" fmla="val 19418"/>
            </a:avLst>
          </a:prstGeom>
          <a:solidFill>
            <a:srgbClr val="3B3F46"/>
          </a:solidFill>
          <a:ln/>
        </p:spPr>
        <p:txBody>
          <a:bodyPr wrap="square" lIns="91982" tIns="66582" rIns="31117" bIns="41182" rtlCol="0" anchor="t">
            <a:normAutofit/>
          </a:bodyPr>
          <a:lstStyle/>
          <a:p>
            <a:pPr marL="0" indent="0" algn="l">
              <a:lnSpc>
                <a:spcPts val="1690"/>
              </a:lnSpc>
              <a:buNone/>
            </a:pPr>
            <a:r>
              <a:rPr lang="en-US" sz="1300" dirty="0">
                <a:solidFill>
                  <a:srgbClr val="F5F3EE"/>
                </a:solidFill>
                <a:latin typeface="IBM Plex Sans" pitchFamily="34" charset="0"/>
                <a:ea typeface="IBM Plex Sans" pitchFamily="34" charset="-122"/>
                <a:cs typeface="IBM Plex Sans" pitchFamily="34" charset="-120"/>
              </a:rPr>
              <a:t>Oil and gas prices rise</a:t>
            </a:r>
            <a:endParaRPr lang="en-US" sz="1300" dirty="0"/>
          </a:p>
        </p:txBody>
      </p:sp>
      <p:pic>
        <p:nvPicPr>
          <p:cNvPr id="20" name="Image 4" descr="arrow-right"/>
          <p:cNvPicPr>
            <a:picLocks noChangeAspect="1"/>
          </p:cNvPicPr>
          <p:nvPr/>
        </p:nvPicPr>
        <p:blipFill>
          <a:blip r:embed="rId7"/>
          <a:srcRect/>
          <a:stretch/>
        </p:blipFill>
        <p:spPr>
          <a:xfrm>
            <a:off x="3171825" y="5643860"/>
            <a:ext cx="304800" cy="152400"/>
          </a:xfrm>
          <a:prstGeom prst="rect">
            <a:avLst/>
          </a:prstGeom>
        </p:spPr>
      </p:pic>
      <p:sp>
        <p:nvSpPr>
          <p:cNvPr id="21" name="Text 14"/>
          <p:cNvSpPr/>
          <p:nvPr/>
        </p:nvSpPr>
        <p:spPr>
          <a:xfrm>
            <a:off x="3578225" y="5416550"/>
            <a:ext cx="2257425" cy="607020"/>
          </a:xfrm>
          <a:prstGeom prst="roundRect">
            <a:avLst>
              <a:gd name="adj" fmla="val 12553"/>
            </a:avLst>
          </a:prstGeom>
          <a:solidFill>
            <a:srgbClr val="E07B39"/>
          </a:solidFill>
          <a:ln/>
        </p:spPr>
        <p:txBody>
          <a:bodyPr wrap="square" lIns="91982" tIns="66582" rIns="31117" bIns="41182" rtlCol="0" anchor="t">
            <a:normAutofit/>
          </a:bodyPr>
          <a:lstStyle/>
          <a:p>
            <a:pPr marL="0" indent="0" algn="l">
              <a:lnSpc>
                <a:spcPts val="1690"/>
              </a:lnSpc>
              <a:buNone/>
            </a:pPr>
            <a:r>
              <a:rPr lang="en-US" sz="1300" dirty="0">
                <a:solidFill>
                  <a:srgbClr val="0F1B2D"/>
                </a:solidFill>
                <a:latin typeface="IBM Plex Sans" pitchFamily="34" charset="0"/>
                <a:ea typeface="IBM Plex Sans" pitchFamily="34" charset="-122"/>
                <a:cs typeface="IBM Plex Sans" pitchFamily="34" charset="-120"/>
              </a:rPr>
              <a:t>Gas power plants cost more to run</a:t>
            </a:r>
            <a:endParaRPr lang="en-US" sz="1300" dirty="0"/>
          </a:p>
        </p:txBody>
      </p:sp>
      <p:pic>
        <p:nvPicPr>
          <p:cNvPr id="22" name="Image 5" descr="arrow-right"/>
          <p:cNvPicPr>
            <a:picLocks noChangeAspect="1"/>
          </p:cNvPicPr>
          <p:nvPr/>
        </p:nvPicPr>
        <p:blipFill>
          <a:blip r:embed="rId7"/>
          <a:srcRect/>
          <a:stretch/>
        </p:blipFill>
        <p:spPr>
          <a:xfrm>
            <a:off x="5937250" y="5643860"/>
            <a:ext cx="304800" cy="152400"/>
          </a:xfrm>
          <a:prstGeom prst="rect">
            <a:avLst/>
          </a:prstGeom>
        </p:spPr>
      </p:pic>
      <p:sp>
        <p:nvSpPr>
          <p:cNvPr id="23" name="Text 15"/>
          <p:cNvSpPr/>
          <p:nvPr/>
        </p:nvSpPr>
        <p:spPr>
          <a:xfrm>
            <a:off x="6346825" y="5413375"/>
            <a:ext cx="2263775" cy="613370"/>
          </a:xfrm>
          <a:prstGeom prst="roundRect">
            <a:avLst>
              <a:gd name="adj" fmla="val 11906"/>
            </a:avLst>
          </a:prstGeom>
          <a:solidFill>
            <a:srgbClr val="FFFEFB"/>
          </a:solidFill>
          <a:ln w="6350">
            <a:solidFill>
              <a:srgbClr val="DED9CE"/>
            </a:solidFill>
            <a:prstDash val="solid"/>
          </a:ln>
        </p:spPr>
        <p:txBody>
          <a:bodyPr wrap="square" lIns="96087" tIns="70687" rIns="35222" bIns="45287" rtlCol="0" anchor="t">
            <a:normAutofit/>
          </a:bodyPr>
          <a:lstStyle/>
          <a:p>
            <a:pPr marL="0" indent="0" algn="l">
              <a:lnSpc>
                <a:spcPts val="1690"/>
              </a:lnSpc>
              <a:buNone/>
            </a:pPr>
            <a:r>
              <a:rPr lang="en-US" sz="1300" dirty="0">
                <a:solidFill>
                  <a:srgbClr val="0F1B2D"/>
                </a:solidFill>
                <a:latin typeface="IBM Plex Sans" pitchFamily="34" charset="0"/>
                <a:ea typeface="IBM Plex Sans" pitchFamily="34" charset="-122"/>
                <a:cs typeface="IBM Plex Sans" pitchFamily="34" charset="-120"/>
              </a:rPr>
              <a:t>The priciest plant needed sets everyone's price</a:t>
            </a:r>
            <a:endParaRPr lang="en-US" sz="1300" dirty="0"/>
          </a:p>
        </p:txBody>
      </p:sp>
      <p:pic>
        <p:nvPicPr>
          <p:cNvPr id="24" name="Image 6" descr="arrow-right"/>
          <p:cNvPicPr>
            <a:picLocks noChangeAspect="1"/>
          </p:cNvPicPr>
          <p:nvPr/>
        </p:nvPicPr>
        <p:blipFill>
          <a:blip r:embed="rId7"/>
          <a:srcRect/>
          <a:stretch/>
        </p:blipFill>
        <p:spPr>
          <a:xfrm>
            <a:off x="8715375" y="5643860"/>
            <a:ext cx="304800" cy="152400"/>
          </a:xfrm>
          <a:prstGeom prst="rect">
            <a:avLst/>
          </a:prstGeom>
        </p:spPr>
      </p:pic>
      <p:sp>
        <p:nvSpPr>
          <p:cNvPr id="25" name="Text 16"/>
          <p:cNvSpPr/>
          <p:nvPr/>
        </p:nvSpPr>
        <p:spPr>
          <a:xfrm>
            <a:off x="9121775" y="5523855"/>
            <a:ext cx="2257425" cy="392410"/>
          </a:xfrm>
          <a:prstGeom prst="roundRect">
            <a:avLst>
              <a:gd name="adj" fmla="val 19418"/>
            </a:avLst>
          </a:prstGeom>
          <a:solidFill>
            <a:srgbClr val="E3A82B"/>
          </a:solidFill>
          <a:ln/>
        </p:spPr>
        <p:txBody>
          <a:bodyPr wrap="square" lIns="91982" tIns="66582" rIns="31117" bIns="41182" rtlCol="0" anchor="t">
            <a:normAutofit/>
          </a:bodyPr>
          <a:lstStyle/>
          <a:p>
            <a:pPr marL="0" indent="0" algn="l">
              <a:lnSpc>
                <a:spcPts val="1690"/>
              </a:lnSpc>
              <a:buNone/>
            </a:pPr>
            <a:r>
              <a:rPr lang="en-US" sz="1300" b="1" dirty="0">
                <a:solidFill>
                  <a:srgbClr val="0F1B2D"/>
                </a:solidFill>
                <a:latin typeface="IBM Plex Sans" pitchFamily="34" charset="0"/>
                <a:ea typeface="IBM Plex Sans" pitchFamily="34" charset="-122"/>
                <a:cs typeface="IBM Plex Sans" pitchFamily="34" charset="-120"/>
              </a:rPr>
              <a:t>Electricity price rises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0F1B2D"/>
                </a:solidFill>
                <a:latin typeface="Space Grotesk" pitchFamily="34" charset="0"/>
                <a:ea typeface="Space Grotesk" pitchFamily="34" charset="-122"/>
                <a:cs typeface="Space Grotesk" pitchFamily="34" charset="-120"/>
              </a:rPr>
              <a:t>What the model relies on</a:t>
            </a:r>
            <a:endParaRPr lang="en-US" sz="3600" dirty="0"/>
          </a:p>
        </p:txBody>
      </p:sp>
      <p:sp>
        <p:nvSpPr>
          <p:cNvPr id="3" name="Text 1"/>
          <p:cNvSpPr/>
          <p:nvPr/>
        </p:nvSpPr>
        <p:spPr>
          <a:xfrm>
            <a:off x="812800" y="1490960"/>
            <a:ext cx="981075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SHAP measures how many €/MWh each input moved each forecast up or down. Averaged over </a:t>
            </a:r>
            <a:r>
              <a:rPr lang="en-US" sz="1500" b="1" dirty="0">
                <a:solidFill>
                  <a:srgbClr val="4A5568"/>
                </a:solidFill>
                <a:latin typeface="IBM Plex Sans" pitchFamily="34" charset="0"/>
                <a:ea typeface="IBM Plex Sans" pitchFamily="34" charset="-122"/>
                <a:cs typeface="IBM Plex Sans" pitchFamily="34" charset="-120"/>
              </a:rPr>
              <a:t>October 2025</a:t>
            </a:r>
            <a:r>
              <a:rPr lang="en-US" sz="1500" dirty="0">
                <a:solidFill>
                  <a:srgbClr val="4A5568"/>
                </a:solidFill>
                <a:latin typeface="IBM Plex Sans" pitchFamily="34" charset="0"/>
                <a:ea typeface="IBM Plex Sans" pitchFamily="34" charset="-122"/>
                <a:cs typeface="IBM Plex Sans" pitchFamily="34" charset="-120"/>
              </a:rPr>
              <a:t>, our "before" snapshot that every later fortnight is compared against:</a:t>
            </a:r>
            <a:endParaRPr lang="en-US" sz="1500" dirty="0"/>
          </a:p>
        </p:txBody>
      </p:sp>
      <p:pic>
        <p:nvPicPr>
          <p:cNvPr id="4" name="Image 0" descr="Wind turbine"/>
          <p:cNvPicPr>
            <a:picLocks noChangeAspect="1"/>
          </p:cNvPicPr>
          <p:nvPr/>
        </p:nvPicPr>
        <p:blipFill>
          <a:blip r:embed="rId3"/>
          <a:srcRect/>
          <a:stretch/>
        </p:blipFill>
        <p:spPr>
          <a:xfrm>
            <a:off x="812800" y="2176760"/>
            <a:ext cx="304800" cy="304800"/>
          </a:xfrm>
          <a:prstGeom prst="rect">
            <a:avLst/>
          </a:prstGeom>
        </p:spPr>
      </p:pic>
      <p:sp>
        <p:nvSpPr>
          <p:cNvPr id="5" name="Text 2"/>
          <p:cNvSpPr/>
          <p:nvPr/>
        </p:nvSpPr>
        <p:spPr>
          <a:xfrm>
            <a:off x="1270000" y="2195810"/>
            <a:ext cx="2616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Wind forecast</a:t>
            </a:r>
            <a:endParaRPr lang="en-US" sz="1500" dirty="0"/>
          </a:p>
        </p:txBody>
      </p:sp>
      <p:sp>
        <p:nvSpPr>
          <p:cNvPr id="6" name="Shape 3"/>
          <p:cNvSpPr/>
          <p:nvPr/>
        </p:nvSpPr>
        <p:spPr>
          <a:xfrm>
            <a:off x="3962400" y="2202160"/>
            <a:ext cx="3556000" cy="254000"/>
          </a:xfrm>
          <a:custGeom>
            <a:avLst/>
            <a:gdLst/>
            <a:ahLst/>
            <a:cxnLst/>
            <a:rect l="l" t="t" r="r" b="b"/>
            <a:pathLst>
              <a:path w="3556000" h="254000">
                <a:moveTo>
                  <a:pt x="0" y="0"/>
                </a:moveTo>
                <a:lnTo>
                  <a:pt x="3505200" y="0"/>
                </a:lnTo>
                <a:arcTo wR="50800" hR="50800" stAng="16200000" swAng="5400000"/>
                <a:lnTo>
                  <a:pt x="3556000" y="203200"/>
                </a:lnTo>
                <a:arcTo wR="50800" hR="50800" stAng="0" swAng="5400000"/>
                <a:lnTo>
                  <a:pt x="0" y="254000"/>
                </a:lnTo>
                <a:lnTo>
                  <a:pt x="0" y="0"/>
                </a:lnTo>
                <a:close/>
              </a:path>
            </a:pathLst>
          </a:custGeom>
          <a:solidFill>
            <a:srgbClr val="2F6FAE"/>
          </a:solidFill>
          <a:ln/>
        </p:spPr>
        <p:txBody>
          <a:bodyPr/>
          <a:lstStyle/>
          <a:p>
            <a:endParaRPr lang="en-IE"/>
          </a:p>
        </p:txBody>
      </p:sp>
      <p:sp>
        <p:nvSpPr>
          <p:cNvPr id="7" name="Text 4"/>
          <p:cNvSpPr/>
          <p:nvPr/>
        </p:nvSpPr>
        <p:spPr>
          <a:xfrm>
            <a:off x="7670800" y="2195810"/>
            <a:ext cx="47982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25.3</a:t>
            </a:r>
            <a:endParaRPr lang="en-US" sz="1500" dirty="0"/>
          </a:p>
        </p:txBody>
      </p:sp>
      <p:pic>
        <p:nvPicPr>
          <p:cNvPr id="8" name="Image 1" descr="Chart"/>
          <p:cNvPicPr>
            <a:picLocks noChangeAspect="1"/>
          </p:cNvPicPr>
          <p:nvPr/>
        </p:nvPicPr>
        <p:blipFill>
          <a:blip r:embed="rId4"/>
          <a:srcRect/>
          <a:stretch/>
        </p:blipFill>
        <p:spPr>
          <a:xfrm>
            <a:off x="812800" y="2570460"/>
            <a:ext cx="304800" cy="304800"/>
          </a:xfrm>
          <a:prstGeom prst="rect">
            <a:avLst/>
          </a:prstGeom>
        </p:spPr>
      </p:pic>
      <p:sp>
        <p:nvSpPr>
          <p:cNvPr id="9" name="Text 5"/>
          <p:cNvSpPr/>
          <p:nvPr/>
        </p:nvSpPr>
        <p:spPr>
          <a:xfrm>
            <a:off x="1270000" y="2589510"/>
            <a:ext cx="2616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Yesterday's price</a:t>
            </a:r>
            <a:endParaRPr lang="en-US" sz="1500" dirty="0"/>
          </a:p>
        </p:txBody>
      </p:sp>
      <p:sp>
        <p:nvSpPr>
          <p:cNvPr id="10" name="Shape 6"/>
          <p:cNvSpPr/>
          <p:nvPr/>
        </p:nvSpPr>
        <p:spPr>
          <a:xfrm>
            <a:off x="3962400" y="2595860"/>
            <a:ext cx="1949450" cy="254000"/>
          </a:xfrm>
          <a:custGeom>
            <a:avLst/>
            <a:gdLst/>
            <a:ahLst/>
            <a:cxnLst/>
            <a:rect l="l" t="t" r="r" b="b"/>
            <a:pathLst>
              <a:path w="1949450" h="254000">
                <a:moveTo>
                  <a:pt x="0" y="0"/>
                </a:moveTo>
                <a:lnTo>
                  <a:pt x="1898650" y="0"/>
                </a:lnTo>
                <a:arcTo wR="50800" hR="50800" stAng="16200000" swAng="5400000"/>
                <a:lnTo>
                  <a:pt x="1949450" y="203200"/>
                </a:lnTo>
                <a:arcTo wR="50800" hR="50800" stAng="0" swAng="5400000"/>
                <a:lnTo>
                  <a:pt x="0" y="254000"/>
                </a:lnTo>
                <a:lnTo>
                  <a:pt x="0" y="0"/>
                </a:lnTo>
                <a:close/>
              </a:path>
            </a:pathLst>
          </a:custGeom>
          <a:solidFill>
            <a:srgbClr val="14524A"/>
          </a:solidFill>
          <a:ln/>
        </p:spPr>
        <p:txBody>
          <a:bodyPr/>
          <a:lstStyle/>
          <a:p>
            <a:endParaRPr lang="en-IE"/>
          </a:p>
        </p:txBody>
      </p:sp>
      <p:sp>
        <p:nvSpPr>
          <p:cNvPr id="11" name="Text 7"/>
          <p:cNvSpPr/>
          <p:nvPr/>
        </p:nvSpPr>
        <p:spPr>
          <a:xfrm>
            <a:off x="6064250" y="2589510"/>
            <a:ext cx="47982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13.9</a:t>
            </a:r>
            <a:endParaRPr lang="en-US" sz="1500" dirty="0"/>
          </a:p>
        </p:txBody>
      </p:sp>
      <p:pic>
        <p:nvPicPr>
          <p:cNvPr id="12" name="Image 2" descr="Sun"/>
          <p:cNvPicPr>
            <a:picLocks noChangeAspect="1"/>
          </p:cNvPicPr>
          <p:nvPr/>
        </p:nvPicPr>
        <p:blipFill>
          <a:blip r:embed="rId5"/>
          <a:srcRect/>
          <a:stretch/>
        </p:blipFill>
        <p:spPr>
          <a:xfrm>
            <a:off x="812800" y="2964160"/>
            <a:ext cx="304800" cy="304800"/>
          </a:xfrm>
          <a:prstGeom prst="rect">
            <a:avLst/>
          </a:prstGeom>
        </p:spPr>
      </p:pic>
      <p:sp>
        <p:nvSpPr>
          <p:cNvPr id="13" name="Text 8"/>
          <p:cNvSpPr/>
          <p:nvPr/>
        </p:nvSpPr>
        <p:spPr>
          <a:xfrm>
            <a:off x="1270000" y="2983210"/>
            <a:ext cx="2616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Solar forecast</a:t>
            </a:r>
            <a:endParaRPr lang="en-US" sz="1500" dirty="0"/>
          </a:p>
        </p:txBody>
      </p:sp>
      <p:sp>
        <p:nvSpPr>
          <p:cNvPr id="14" name="Shape 9"/>
          <p:cNvSpPr/>
          <p:nvPr/>
        </p:nvSpPr>
        <p:spPr>
          <a:xfrm>
            <a:off x="3962400" y="2989560"/>
            <a:ext cx="1625600" cy="254000"/>
          </a:xfrm>
          <a:custGeom>
            <a:avLst/>
            <a:gdLst/>
            <a:ahLst/>
            <a:cxnLst/>
            <a:rect l="l" t="t" r="r" b="b"/>
            <a:pathLst>
              <a:path w="1625600" h="254000">
                <a:moveTo>
                  <a:pt x="0" y="0"/>
                </a:moveTo>
                <a:lnTo>
                  <a:pt x="1574800" y="0"/>
                </a:lnTo>
                <a:arcTo wR="50800" hR="50800" stAng="16200000" swAng="5400000"/>
                <a:lnTo>
                  <a:pt x="1625600" y="203200"/>
                </a:lnTo>
                <a:arcTo wR="50800" hR="50800" stAng="0" swAng="5400000"/>
                <a:lnTo>
                  <a:pt x="0" y="254000"/>
                </a:lnTo>
                <a:lnTo>
                  <a:pt x="0" y="0"/>
                </a:lnTo>
                <a:close/>
              </a:path>
            </a:pathLst>
          </a:custGeom>
          <a:solidFill>
            <a:srgbClr val="E3A82B"/>
          </a:solidFill>
          <a:ln/>
        </p:spPr>
        <p:txBody>
          <a:bodyPr/>
          <a:lstStyle/>
          <a:p>
            <a:endParaRPr lang="en-IE"/>
          </a:p>
        </p:txBody>
      </p:sp>
      <p:sp>
        <p:nvSpPr>
          <p:cNvPr id="15" name="Text 10"/>
          <p:cNvSpPr/>
          <p:nvPr/>
        </p:nvSpPr>
        <p:spPr>
          <a:xfrm>
            <a:off x="5740400" y="2983210"/>
            <a:ext cx="47982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11.6</a:t>
            </a:r>
            <a:endParaRPr lang="en-US" sz="1500" dirty="0"/>
          </a:p>
        </p:txBody>
      </p:sp>
      <p:pic>
        <p:nvPicPr>
          <p:cNvPr id="16" name="Image 3" descr="Users"/>
          <p:cNvPicPr>
            <a:picLocks noChangeAspect="1"/>
          </p:cNvPicPr>
          <p:nvPr/>
        </p:nvPicPr>
        <p:blipFill>
          <a:blip r:embed="rId6"/>
          <a:srcRect/>
          <a:stretch/>
        </p:blipFill>
        <p:spPr>
          <a:xfrm>
            <a:off x="812800" y="3357860"/>
            <a:ext cx="304800" cy="304800"/>
          </a:xfrm>
          <a:prstGeom prst="rect">
            <a:avLst/>
          </a:prstGeom>
        </p:spPr>
      </p:pic>
      <p:sp>
        <p:nvSpPr>
          <p:cNvPr id="17" name="Text 11"/>
          <p:cNvSpPr/>
          <p:nvPr/>
        </p:nvSpPr>
        <p:spPr>
          <a:xfrm>
            <a:off x="1270000" y="3376910"/>
            <a:ext cx="2616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Demand forecast</a:t>
            </a:r>
            <a:endParaRPr lang="en-US" sz="1500" dirty="0"/>
          </a:p>
        </p:txBody>
      </p:sp>
      <p:sp>
        <p:nvSpPr>
          <p:cNvPr id="18" name="Shape 12"/>
          <p:cNvSpPr/>
          <p:nvPr/>
        </p:nvSpPr>
        <p:spPr>
          <a:xfrm>
            <a:off x="3962400" y="3383260"/>
            <a:ext cx="1485900" cy="254000"/>
          </a:xfrm>
          <a:custGeom>
            <a:avLst/>
            <a:gdLst/>
            <a:ahLst/>
            <a:cxnLst/>
            <a:rect l="l" t="t" r="r" b="b"/>
            <a:pathLst>
              <a:path w="1485900" h="254000">
                <a:moveTo>
                  <a:pt x="0" y="0"/>
                </a:moveTo>
                <a:lnTo>
                  <a:pt x="1435100" y="0"/>
                </a:lnTo>
                <a:arcTo wR="50800" hR="50800" stAng="16200000" swAng="5400000"/>
                <a:lnTo>
                  <a:pt x="1485900" y="203200"/>
                </a:lnTo>
                <a:arcTo wR="50800" hR="50800" stAng="0" swAng="5400000"/>
                <a:lnTo>
                  <a:pt x="0" y="254000"/>
                </a:lnTo>
                <a:lnTo>
                  <a:pt x="0" y="0"/>
                </a:lnTo>
                <a:close/>
              </a:path>
            </a:pathLst>
          </a:custGeom>
          <a:solidFill>
            <a:srgbClr val="A6927A"/>
          </a:solidFill>
          <a:ln/>
        </p:spPr>
        <p:txBody>
          <a:bodyPr/>
          <a:lstStyle/>
          <a:p>
            <a:endParaRPr lang="en-IE"/>
          </a:p>
        </p:txBody>
      </p:sp>
      <p:sp>
        <p:nvSpPr>
          <p:cNvPr id="19" name="Text 13"/>
          <p:cNvSpPr/>
          <p:nvPr/>
        </p:nvSpPr>
        <p:spPr>
          <a:xfrm>
            <a:off x="5600700" y="3376910"/>
            <a:ext cx="47982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10.6</a:t>
            </a:r>
            <a:endParaRPr lang="en-US" sz="1500" dirty="0"/>
          </a:p>
        </p:txBody>
      </p:sp>
      <p:pic>
        <p:nvPicPr>
          <p:cNvPr id="20" name="Image 4" descr="Clock"/>
          <p:cNvPicPr>
            <a:picLocks noChangeAspect="1"/>
          </p:cNvPicPr>
          <p:nvPr/>
        </p:nvPicPr>
        <p:blipFill>
          <a:blip r:embed="rId7"/>
          <a:srcRect/>
          <a:stretch/>
        </p:blipFill>
        <p:spPr>
          <a:xfrm>
            <a:off x="812800" y="3751560"/>
            <a:ext cx="304800" cy="304800"/>
          </a:xfrm>
          <a:prstGeom prst="rect">
            <a:avLst/>
          </a:prstGeom>
        </p:spPr>
      </p:pic>
      <p:sp>
        <p:nvSpPr>
          <p:cNvPr id="21" name="Text 14"/>
          <p:cNvSpPr/>
          <p:nvPr/>
        </p:nvSpPr>
        <p:spPr>
          <a:xfrm>
            <a:off x="1270000" y="3770610"/>
            <a:ext cx="2616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Last week's price</a:t>
            </a:r>
            <a:endParaRPr lang="en-US" sz="1500" dirty="0"/>
          </a:p>
        </p:txBody>
      </p:sp>
      <p:sp>
        <p:nvSpPr>
          <p:cNvPr id="22" name="Shape 15"/>
          <p:cNvSpPr/>
          <p:nvPr/>
        </p:nvSpPr>
        <p:spPr>
          <a:xfrm>
            <a:off x="3962400" y="3776960"/>
            <a:ext cx="800100" cy="254000"/>
          </a:xfrm>
          <a:custGeom>
            <a:avLst/>
            <a:gdLst/>
            <a:ahLst/>
            <a:cxnLst/>
            <a:rect l="l" t="t" r="r" b="b"/>
            <a:pathLst>
              <a:path w="800100" h="254000">
                <a:moveTo>
                  <a:pt x="0" y="0"/>
                </a:moveTo>
                <a:lnTo>
                  <a:pt x="749300" y="0"/>
                </a:lnTo>
                <a:arcTo wR="50800" hR="50800" stAng="16200000" swAng="5400000"/>
                <a:lnTo>
                  <a:pt x="800100" y="203200"/>
                </a:lnTo>
                <a:arcTo wR="50800" hR="50800" stAng="0" swAng="5400000"/>
                <a:lnTo>
                  <a:pt x="0" y="254000"/>
                </a:lnTo>
                <a:lnTo>
                  <a:pt x="0" y="0"/>
                </a:lnTo>
                <a:close/>
              </a:path>
            </a:pathLst>
          </a:custGeom>
          <a:solidFill>
            <a:srgbClr val="8A5AA8"/>
          </a:solidFill>
          <a:ln/>
        </p:spPr>
        <p:txBody>
          <a:bodyPr/>
          <a:lstStyle/>
          <a:p>
            <a:endParaRPr lang="en-IE"/>
          </a:p>
        </p:txBody>
      </p:sp>
      <p:sp>
        <p:nvSpPr>
          <p:cNvPr id="23" name="Text 16"/>
          <p:cNvSpPr/>
          <p:nvPr/>
        </p:nvSpPr>
        <p:spPr>
          <a:xfrm>
            <a:off x="4914900" y="3770610"/>
            <a:ext cx="34266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5.7</a:t>
            </a:r>
            <a:endParaRPr lang="en-US" sz="1500" dirty="0"/>
          </a:p>
        </p:txBody>
      </p:sp>
      <p:sp>
        <p:nvSpPr>
          <p:cNvPr id="24" name="Text 17"/>
          <p:cNvSpPr/>
          <p:nvPr/>
        </p:nvSpPr>
        <p:spPr>
          <a:xfrm>
            <a:off x="812800" y="420876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Everything else (temperature, gas power, hour, day, holiday): under 2 each.</a:t>
            </a:r>
            <a:endParaRPr lang="en-US" sz="1300" dirty="0"/>
          </a:p>
        </p:txBody>
      </p:sp>
      <p:sp>
        <p:nvSpPr>
          <p:cNvPr id="25" name="Text 18"/>
          <p:cNvSpPr/>
          <p:nvPr/>
        </p:nvSpPr>
        <p:spPr>
          <a:xfrm>
            <a:off x="812800" y="4592290"/>
            <a:ext cx="9525000" cy="443210"/>
          </a:xfrm>
          <a:prstGeom prst="roundRect">
            <a:avLst>
              <a:gd name="adj" fmla="val 17193"/>
            </a:avLst>
          </a:prstGeom>
          <a:solidFill>
            <a:srgbClr val="0F1B2D"/>
          </a:solidFill>
          <a:ln/>
        </p:spPr>
        <p:txBody>
          <a:bodyPr wrap="square" lIns="130082" tIns="79282" rIns="0" bIns="53882" rtlCol="0" anchor="t">
            <a:normAutofit/>
          </a:bodyPr>
          <a:lstStyle/>
          <a:p>
            <a:pPr marL="0" indent="0" algn="l">
              <a:lnSpc>
                <a:spcPts val="1890"/>
              </a:lnSpc>
              <a:buNone/>
            </a:pPr>
            <a:r>
              <a:rPr lang="en-US" sz="1400" b="1" dirty="0">
                <a:solidFill>
                  <a:srgbClr val="F5F3EE"/>
                </a:solidFill>
                <a:latin typeface="IBM Plex Sans" pitchFamily="34" charset="0"/>
                <a:ea typeface="IBM Plex Sans" pitchFamily="34" charset="-122"/>
                <a:cs typeface="IBM Plex Sans" pitchFamily="34" charset="-120"/>
              </a:rPr>
              <a:t>One rule:</a:t>
            </a:r>
            <a:r>
              <a:rPr lang="en-US" sz="1400" dirty="0">
                <a:solidFill>
                  <a:srgbClr val="F5F3EE"/>
                </a:solidFill>
                <a:latin typeface="IBM Plex Sans" pitchFamily="34" charset="0"/>
                <a:ea typeface="IBM Plex Sans" pitchFamily="34" charset="-122"/>
                <a:cs typeface="IBM Plex Sans" pitchFamily="34" charset="-120"/>
              </a:rPr>
              <a:t> only inputs known before the noon auction the day before, so the model never sees the answer.</a:t>
            </a:r>
            <a:endParaRPr lang="en-US" sz="1400" dirty="0"/>
          </a:p>
        </p:txBody>
      </p:sp>
      <p:sp>
        <p:nvSpPr>
          <p:cNvPr id="26" name="Shape 19"/>
          <p:cNvSpPr/>
          <p:nvPr/>
        </p:nvSpPr>
        <p:spPr>
          <a:xfrm>
            <a:off x="7660481" y="624681"/>
            <a:ext cx="3505200" cy="573980"/>
          </a:xfrm>
          <a:prstGeom prst="roundRect">
            <a:avLst>
              <a:gd name="adj" fmla="val 13276"/>
            </a:avLst>
          </a:prstGeom>
          <a:solidFill>
            <a:srgbClr val="F7E3D3"/>
          </a:solidFill>
          <a:ln/>
        </p:spPr>
        <p:txBody>
          <a:bodyPr/>
          <a:lstStyle/>
          <a:p>
            <a:endParaRPr lang="en-IE"/>
          </a:p>
        </p:txBody>
      </p:sp>
      <p:pic>
        <p:nvPicPr>
          <p:cNvPr id="27" name="Image 5" descr="Warning"/>
          <p:cNvPicPr>
            <a:picLocks noChangeAspect="1"/>
          </p:cNvPicPr>
          <p:nvPr/>
        </p:nvPicPr>
        <p:blipFill>
          <a:blip r:embed="rId8"/>
          <a:srcRect l="-485" r="-485"/>
          <a:stretch/>
        </p:blipFill>
        <p:spPr>
          <a:xfrm>
            <a:off x="7774781" y="784671"/>
            <a:ext cx="211584" cy="254000"/>
          </a:xfrm>
          <a:prstGeom prst="rect">
            <a:avLst/>
          </a:prstGeom>
        </p:spPr>
      </p:pic>
      <p:sp>
        <p:nvSpPr>
          <p:cNvPr id="28" name="Text 20"/>
          <p:cNvSpPr/>
          <p:nvPr/>
        </p:nvSpPr>
        <p:spPr>
          <a:xfrm>
            <a:off x="8075265" y="713581"/>
            <a:ext cx="3065399"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F1B2D"/>
                </a:solidFill>
                <a:latin typeface="IBM Plex Sans" pitchFamily="34" charset="0"/>
                <a:ea typeface="IBM Plex Sans" pitchFamily="34" charset="-122"/>
                <a:cs typeface="IBM Plex Sans" pitchFamily="34" charset="-120"/>
              </a:rPr>
              <a:t>October is autumn. Keep that in mind for the results.</a:t>
            </a:r>
            <a:endParaRPr lang="en-US" sz="1200" dirty="0"/>
          </a:p>
        </p:txBody>
      </p:sp>
      <p:sp>
        <p:nvSpPr>
          <p:cNvPr id="29"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Blind model, October 2025 · Data: SMARD, Open-Meteo (CC BY 4.0) · SHAP: Lundberg &amp; Lee 2017; TreeSHAP: Lundberg et al. 2020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0F1B2D"/>
                </a:solidFill>
                <a:latin typeface="Space Grotesk" pitchFamily="34" charset="0"/>
                <a:ea typeface="Space Grotesk" pitchFamily="34" charset="-122"/>
                <a:cs typeface="Space Grotesk" pitchFamily="34" charset="-120"/>
              </a:rPr>
              <a:t>How we ran the experiment</a:t>
            </a:r>
            <a:endParaRPr lang="en-US" sz="3600" dirty="0"/>
          </a:p>
        </p:txBody>
      </p:sp>
      <p:sp>
        <p:nvSpPr>
          <p:cNvPr id="3" name="Shape 1"/>
          <p:cNvSpPr/>
          <p:nvPr/>
        </p:nvSpPr>
        <p:spPr>
          <a:xfrm>
            <a:off x="815975" y="1595735"/>
            <a:ext cx="2562225" cy="3389709"/>
          </a:xfrm>
          <a:prstGeom prst="roundRect">
            <a:avLst>
              <a:gd name="adj" fmla="val 3841"/>
            </a:avLst>
          </a:prstGeom>
          <a:solidFill>
            <a:srgbClr val="FFFEFB"/>
          </a:solidFill>
          <a:ln w="6350">
            <a:solidFill>
              <a:srgbClr val="DED9CE"/>
            </a:solidFill>
            <a:prstDash val="solid"/>
          </a:ln>
        </p:spPr>
        <p:txBody>
          <a:bodyPr/>
          <a:lstStyle/>
          <a:p>
            <a:endParaRPr lang="en-IE"/>
          </a:p>
        </p:txBody>
      </p:sp>
      <p:sp>
        <p:nvSpPr>
          <p:cNvPr id="4" name="Shape 2"/>
          <p:cNvSpPr/>
          <p:nvPr/>
        </p:nvSpPr>
        <p:spPr>
          <a:xfrm>
            <a:off x="1022350" y="1802110"/>
            <a:ext cx="457200" cy="457200"/>
          </a:xfrm>
          <a:prstGeom prst="roundRect">
            <a:avLst>
              <a:gd name="adj" fmla="val 19444"/>
            </a:avLst>
          </a:prstGeom>
          <a:solidFill>
            <a:srgbClr val="EDEBE6"/>
          </a:solidFill>
          <a:ln/>
        </p:spPr>
        <p:txBody>
          <a:bodyPr/>
          <a:lstStyle/>
          <a:p>
            <a:endParaRPr lang="en-IE"/>
          </a:p>
        </p:txBody>
      </p:sp>
      <p:pic>
        <p:nvPicPr>
          <p:cNvPr id="5" name="Image 0" descr="GraduationCap"/>
          <p:cNvPicPr>
            <a:picLocks noChangeAspect="1"/>
          </p:cNvPicPr>
          <p:nvPr/>
        </p:nvPicPr>
        <p:blipFill>
          <a:blip r:embed="rId3"/>
          <a:srcRect/>
          <a:stretch/>
        </p:blipFill>
        <p:spPr>
          <a:xfrm>
            <a:off x="1111250" y="1891010"/>
            <a:ext cx="279400" cy="279400"/>
          </a:xfrm>
          <a:prstGeom prst="rect">
            <a:avLst/>
          </a:prstGeom>
        </p:spPr>
      </p:pic>
      <p:sp>
        <p:nvSpPr>
          <p:cNvPr id="6" name="Text 3"/>
          <p:cNvSpPr/>
          <p:nvPr/>
        </p:nvSpPr>
        <p:spPr>
          <a:xfrm>
            <a:off x="2937321" y="1827510"/>
            <a:ext cx="234504" cy="431800"/>
          </a:xfrm>
          <a:prstGeom prst="rect">
            <a:avLst/>
          </a:prstGeom>
          <a:noFill/>
          <a:ln/>
        </p:spPr>
        <p:txBody>
          <a:bodyPr wrap="square" lIns="0" tIns="0" rIns="0" bIns="0" rtlCol="0" anchor="t">
            <a:normAutofit/>
          </a:bodyPr>
          <a:lstStyle/>
          <a:p>
            <a:pPr marL="0" indent="0" algn="r">
              <a:lnSpc>
                <a:spcPts val="3200"/>
              </a:lnSpc>
              <a:buNone/>
            </a:pPr>
            <a:r>
              <a:rPr lang="en-US" sz="3200" b="1" dirty="0">
                <a:solidFill>
                  <a:srgbClr val="C3CEDB"/>
                </a:solidFill>
                <a:latin typeface="Space Grotesk" pitchFamily="34" charset="0"/>
                <a:ea typeface="Space Grotesk" pitchFamily="34" charset="-122"/>
                <a:cs typeface="Space Grotesk" pitchFamily="34" charset="-120"/>
              </a:rPr>
              <a:t>1</a:t>
            </a:r>
            <a:endParaRPr lang="en-US" sz="3200" dirty="0"/>
          </a:p>
        </p:txBody>
      </p:sp>
      <p:sp>
        <p:nvSpPr>
          <p:cNvPr id="7" name="Text 4"/>
          <p:cNvSpPr/>
          <p:nvPr/>
        </p:nvSpPr>
        <p:spPr>
          <a:xfrm>
            <a:off x="1022350" y="2348210"/>
            <a:ext cx="2213959"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0F1B2D"/>
                </a:solidFill>
                <a:latin typeface="Space Grotesk" pitchFamily="34" charset="0"/>
                <a:ea typeface="Space Grotesk" pitchFamily="34" charset="-122"/>
                <a:cs typeface="Space Grotesk" pitchFamily="34" charset="-120"/>
              </a:rPr>
              <a:t>Train</a:t>
            </a:r>
            <a:endParaRPr lang="en-US" sz="2200" dirty="0"/>
          </a:p>
        </p:txBody>
      </p:sp>
      <p:sp>
        <p:nvSpPr>
          <p:cNvPr id="8" name="Text 5"/>
          <p:cNvSpPr/>
          <p:nvPr/>
        </p:nvSpPr>
        <p:spPr>
          <a:xfrm>
            <a:off x="1022350" y="2758380"/>
            <a:ext cx="221395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Jan 2024 – Sep 2025</a:t>
            </a:r>
            <a:endParaRPr lang="en-US" sz="1300" dirty="0"/>
          </a:p>
        </p:txBody>
      </p:sp>
      <p:sp>
        <p:nvSpPr>
          <p:cNvPr id="9" name="Text 6"/>
          <p:cNvSpPr/>
          <p:nvPr/>
        </p:nvSpPr>
        <p:spPr>
          <a:xfrm>
            <a:off x="1022350" y="3078411"/>
            <a:ext cx="2213959"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0F1B2D"/>
                </a:solidFill>
                <a:latin typeface="IBM Plex Sans" pitchFamily="34" charset="0"/>
                <a:ea typeface="IBM Plex Sans" pitchFamily="34" charset="-122"/>
                <a:cs typeface="IBM Plex Sans" pitchFamily="34" charset="-120"/>
              </a:rPr>
              <a:t>Learns from 21 months of German prices.</a:t>
            </a:r>
            <a:endParaRPr lang="en-US" sz="1500" dirty="0"/>
          </a:p>
        </p:txBody>
      </p:sp>
      <p:sp>
        <p:nvSpPr>
          <p:cNvPr id="10" name="Shape 7"/>
          <p:cNvSpPr/>
          <p:nvPr/>
        </p:nvSpPr>
        <p:spPr>
          <a:xfrm>
            <a:off x="3486150" y="1595735"/>
            <a:ext cx="2562225" cy="3389709"/>
          </a:xfrm>
          <a:prstGeom prst="roundRect">
            <a:avLst>
              <a:gd name="adj" fmla="val 3841"/>
            </a:avLst>
          </a:prstGeom>
          <a:solidFill>
            <a:srgbClr val="FFFEFB"/>
          </a:solidFill>
          <a:ln w="6350">
            <a:solidFill>
              <a:srgbClr val="DED9CE"/>
            </a:solidFill>
            <a:prstDash val="solid"/>
          </a:ln>
        </p:spPr>
        <p:txBody>
          <a:bodyPr/>
          <a:lstStyle/>
          <a:p>
            <a:endParaRPr lang="en-IE"/>
          </a:p>
        </p:txBody>
      </p:sp>
      <p:sp>
        <p:nvSpPr>
          <p:cNvPr id="11" name="Shape 8"/>
          <p:cNvSpPr/>
          <p:nvPr/>
        </p:nvSpPr>
        <p:spPr>
          <a:xfrm>
            <a:off x="3692525" y="1762522"/>
            <a:ext cx="457200" cy="457200"/>
          </a:xfrm>
          <a:prstGeom prst="roundRect">
            <a:avLst>
              <a:gd name="adj" fmla="val 19444"/>
            </a:avLst>
          </a:prstGeom>
          <a:solidFill>
            <a:srgbClr val="E4EDF6"/>
          </a:solidFill>
          <a:ln/>
        </p:spPr>
        <p:txBody>
          <a:bodyPr/>
          <a:lstStyle/>
          <a:p>
            <a:endParaRPr lang="en-IE"/>
          </a:p>
        </p:txBody>
      </p:sp>
      <p:pic>
        <p:nvPicPr>
          <p:cNvPr id="12" name="Image 1" descr="CheckCircle"/>
          <p:cNvPicPr>
            <a:picLocks noChangeAspect="1"/>
          </p:cNvPicPr>
          <p:nvPr/>
        </p:nvPicPr>
        <p:blipFill>
          <a:blip r:embed="rId4"/>
          <a:srcRect/>
          <a:stretch/>
        </p:blipFill>
        <p:spPr>
          <a:xfrm>
            <a:off x="3781425" y="1851422"/>
            <a:ext cx="279400" cy="279400"/>
          </a:xfrm>
          <a:prstGeom prst="rect">
            <a:avLst/>
          </a:prstGeom>
        </p:spPr>
      </p:pic>
      <p:sp>
        <p:nvSpPr>
          <p:cNvPr id="13" name="Text 9"/>
          <p:cNvSpPr/>
          <p:nvPr/>
        </p:nvSpPr>
        <p:spPr>
          <a:xfrm>
            <a:off x="5549751" y="1787922"/>
            <a:ext cx="292249" cy="431800"/>
          </a:xfrm>
          <a:prstGeom prst="rect">
            <a:avLst/>
          </a:prstGeom>
          <a:noFill/>
          <a:ln/>
        </p:spPr>
        <p:txBody>
          <a:bodyPr wrap="square" lIns="0" tIns="0" rIns="0" bIns="0" rtlCol="0" anchor="t">
            <a:normAutofit/>
          </a:bodyPr>
          <a:lstStyle/>
          <a:p>
            <a:pPr marL="0" indent="0" algn="r">
              <a:lnSpc>
                <a:spcPts val="3200"/>
              </a:lnSpc>
              <a:buNone/>
            </a:pPr>
            <a:r>
              <a:rPr lang="en-US" sz="3200" b="1" dirty="0">
                <a:solidFill>
                  <a:srgbClr val="2F6FAE"/>
                </a:solidFill>
                <a:latin typeface="Space Grotesk" pitchFamily="34" charset="0"/>
                <a:ea typeface="Space Grotesk" pitchFamily="34" charset="-122"/>
                <a:cs typeface="Space Grotesk" pitchFamily="34" charset="-120"/>
              </a:rPr>
              <a:t>2</a:t>
            </a:r>
            <a:endParaRPr lang="en-US" sz="3200" dirty="0"/>
          </a:p>
        </p:txBody>
      </p:sp>
      <p:sp>
        <p:nvSpPr>
          <p:cNvPr id="14" name="Text 10"/>
          <p:cNvSpPr/>
          <p:nvPr/>
        </p:nvSpPr>
        <p:spPr>
          <a:xfrm>
            <a:off x="3692525" y="2268984"/>
            <a:ext cx="2213959" cy="290959"/>
          </a:xfrm>
          <a:prstGeom prst="rect">
            <a:avLst/>
          </a:prstGeom>
          <a:noFill/>
          <a:ln/>
        </p:spPr>
        <p:txBody>
          <a:bodyPr wrap="square" lIns="0" tIns="0" rIns="0" bIns="0" rtlCol="0" anchor="t">
            <a:normAutofit/>
          </a:bodyPr>
          <a:lstStyle/>
          <a:p>
            <a:pPr marL="0" indent="0" algn="l">
              <a:lnSpc>
                <a:spcPts val="2119"/>
              </a:lnSpc>
              <a:buNone/>
            </a:pPr>
            <a:r>
              <a:rPr lang="en-US" sz="1843" b="1" dirty="0">
                <a:solidFill>
                  <a:srgbClr val="0F1B2D"/>
                </a:solidFill>
                <a:latin typeface="Space Grotesk" pitchFamily="34" charset="0"/>
                <a:ea typeface="Space Grotesk" pitchFamily="34" charset="-122"/>
                <a:cs typeface="Space Grotesk" pitchFamily="34" charset="-120"/>
              </a:rPr>
              <a:t>Snapshot</a:t>
            </a:r>
            <a:endParaRPr lang="en-US" sz="1843" dirty="0"/>
          </a:p>
        </p:txBody>
      </p:sp>
      <p:sp>
        <p:nvSpPr>
          <p:cNvPr id="15" name="Text 11"/>
          <p:cNvSpPr/>
          <p:nvPr/>
        </p:nvSpPr>
        <p:spPr>
          <a:xfrm>
            <a:off x="3692525" y="2623443"/>
            <a:ext cx="2213959" cy="216396"/>
          </a:xfrm>
          <a:prstGeom prst="rect">
            <a:avLst/>
          </a:prstGeom>
          <a:noFill/>
          <a:ln/>
        </p:spPr>
        <p:txBody>
          <a:bodyPr wrap="square" lIns="0" tIns="0" rIns="0" bIns="0" rtlCol="0" anchor="t">
            <a:normAutofit/>
          </a:bodyPr>
          <a:lstStyle/>
          <a:p>
            <a:pPr marL="0" indent="0" algn="l">
              <a:lnSpc>
                <a:spcPts val="1524"/>
              </a:lnSpc>
              <a:buNone/>
            </a:pPr>
            <a:r>
              <a:rPr lang="en-US" sz="1089" b="1" dirty="0">
                <a:solidFill>
                  <a:srgbClr val="4A5568"/>
                </a:solidFill>
                <a:latin typeface="IBM Plex Sans" pitchFamily="34" charset="0"/>
                <a:ea typeface="IBM Plex Sans" pitchFamily="34" charset="-122"/>
                <a:cs typeface="IBM Plex Sans" pitchFamily="34" charset="-120"/>
              </a:rPr>
              <a:t>Oct 2025</a:t>
            </a:r>
            <a:endParaRPr lang="en-US" sz="1089" dirty="0"/>
          </a:p>
        </p:txBody>
      </p:sp>
      <p:sp>
        <p:nvSpPr>
          <p:cNvPr id="16" name="Text 12"/>
          <p:cNvSpPr/>
          <p:nvPr/>
        </p:nvSpPr>
        <p:spPr>
          <a:xfrm>
            <a:off x="3692525" y="2903339"/>
            <a:ext cx="2213959" cy="663129"/>
          </a:xfrm>
          <a:prstGeom prst="rect">
            <a:avLst/>
          </a:prstGeom>
          <a:noFill/>
          <a:ln/>
        </p:spPr>
        <p:txBody>
          <a:bodyPr wrap="square" lIns="0" tIns="0" rIns="0" bIns="0" rtlCol="0" anchor="t">
            <a:normAutofit/>
          </a:bodyPr>
          <a:lstStyle/>
          <a:p>
            <a:pPr marL="0" indent="0" algn="l">
              <a:lnSpc>
                <a:spcPts val="1879"/>
              </a:lnSpc>
              <a:buNone/>
            </a:pPr>
            <a:r>
              <a:rPr lang="en-US" sz="1392" dirty="0">
                <a:solidFill>
                  <a:srgbClr val="0F1B2D"/>
                </a:solidFill>
                <a:latin typeface="IBM Plex Sans" pitchFamily="34" charset="0"/>
                <a:ea typeface="IBM Plex Sans" pitchFamily="34" charset="-122"/>
                <a:cs typeface="IBM Plex Sans" pitchFamily="34" charset="-120"/>
              </a:rPr>
              <a:t>Check it's accurate. Record the "before" ranking.</a:t>
            </a:r>
            <a:endParaRPr lang="en-US" sz="1392" dirty="0"/>
          </a:p>
        </p:txBody>
      </p:sp>
      <p:sp>
        <p:nvSpPr>
          <p:cNvPr id="17" name="Shape 13"/>
          <p:cNvSpPr/>
          <p:nvPr/>
        </p:nvSpPr>
        <p:spPr>
          <a:xfrm>
            <a:off x="3692525" y="3633143"/>
            <a:ext cx="2149475" cy="0"/>
          </a:xfrm>
          <a:prstGeom prst="line">
            <a:avLst/>
          </a:prstGeom>
          <a:noFill/>
          <a:ln w="6350">
            <a:solidFill>
              <a:srgbClr val="DED9CE"/>
            </a:solidFill>
            <a:prstDash val="solid"/>
          </a:ln>
        </p:spPr>
        <p:txBody>
          <a:bodyPr/>
          <a:lstStyle/>
          <a:p>
            <a:endParaRPr lang="en-IE"/>
          </a:p>
        </p:txBody>
      </p:sp>
      <p:sp>
        <p:nvSpPr>
          <p:cNvPr id="18" name="Text 14"/>
          <p:cNvSpPr/>
          <p:nvPr/>
        </p:nvSpPr>
        <p:spPr>
          <a:xfrm>
            <a:off x="3692525" y="3725218"/>
            <a:ext cx="2213959" cy="348506"/>
          </a:xfrm>
          <a:prstGeom prst="rect">
            <a:avLst/>
          </a:prstGeom>
          <a:noFill/>
          <a:ln/>
        </p:spPr>
        <p:txBody>
          <a:bodyPr wrap="square" lIns="0" tIns="0" rIns="0" bIns="0" rtlCol="0" anchor="t">
            <a:normAutofit/>
          </a:bodyPr>
          <a:lstStyle/>
          <a:p>
            <a:pPr marL="0" indent="0" algn="l">
              <a:lnSpc>
                <a:spcPts val="1541"/>
              </a:lnSpc>
              <a:buNone/>
            </a:pPr>
            <a:r>
              <a:rPr lang="en-US" sz="1185" dirty="0">
                <a:solidFill>
                  <a:srgbClr val="4A5568"/>
                </a:solidFill>
                <a:latin typeface="IBM Plex Sans" pitchFamily="34" charset="0"/>
                <a:ea typeface="IBM Plex Sans" pitchFamily="34" charset="-122"/>
                <a:cs typeface="IBM Plex Sans" pitchFamily="34" charset="-120"/>
              </a:rPr>
              <a:t>Average gap from the real price:</a:t>
            </a:r>
            <a:endParaRPr lang="en-US" sz="1185" dirty="0"/>
          </a:p>
        </p:txBody>
      </p:sp>
      <p:sp>
        <p:nvSpPr>
          <p:cNvPr id="19" name="Text 15"/>
          <p:cNvSpPr/>
          <p:nvPr/>
        </p:nvSpPr>
        <p:spPr>
          <a:xfrm>
            <a:off x="3692525" y="4086423"/>
            <a:ext cx="870645"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2F6FAE"/>
                </a:solidFill>
                <a:latin typeface="Space Grotesk" pitchFamily="34" charset="0"/>
                <a:ea typeface="Space Grotesk" pitchFamily="34" charset="-122"/>
                <a:cs typeface="Space Grotesk" pitchFamily="34" charset="-120"/>
              </a:rPr>
              <a:t>14.5</a:t>
            </a:r>
            <a:endParaRPr lang="en-US" sz="3200" dirty="0"/>
          </a:p>
        </p:txBody>
      </p:sp>
      <p:sp>
        <p:nvSpPr>
          <p:cNvPr id="20" name="Text 16"/>
          <p:cNvSpPr/>
          <p:nvPr/>
        </p:nvSpPr>
        <p:spPr>
          <a:xfrm>
            <a:off x="4563170" y="4254698"/>
            <a:ext cx="64966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€/MWh</a:t>
            </a:r>
            <a:endParaRPr lang="en-US" sz="1300" dirty="0"/>
          </a:p>
        </p:txBody>
      </p:sp>
      <p:sp>
        <p:nvSpPr>
          <p:cNvPr id="21" name="Text 17"/>
          <p:cNvSpPr/>
          <p:nvPr/>
        </p:nvSpPr>
        <p:spPr>
          <a:xfrm>
            <a:off x="3692525" y="4455964"/>
            <a:ext cx="2213959" cy="348506"/>
          </a:xfrm>
          <a:prstGeom prst="rect">
            <a:avLst/>
          </a:prstGeom>
          <a:noFill/>
          <a:ln/>
        </p:spPr>
        <p:txBody>
          <a:bodyPr wrap="square" lIns="0" tIns="0" rIns="0" bIns="0" rtlCol="0" anchor="t">
            <a:normAutofit/>
          </a:bodyPr>
          <a:lstStyle/>
          <a:p>
            <a:pPr marL="0" indent="0" algn="l">
              <a:lnSpc>
                <a:spcPts val="1287"/>
              </a:lnSpc>
              <a:buNone/>
            </a:pPr>
            <a:r>
              <a:rPr lang="en-US" sz="990" dirty="0">
                <a:solidFill>
                  <a:srgbClr val="4A5568"/>
                </a:solidFill>
                <a:latin typeface="IBM Plex Sans" pitchFamily="34" charset="0"/>
                <a:ea typeface="IBM Plex Sans" pitchFamily="34" charset="-122"/>
                <a:cs typeface="IBM Plex Sans" pitchFamily="34" charset="-120"/>
              </a:rPr>
              <a:t>vs </a:t>
            </a:r>
            <a:r>
              <a:rPr lang="en-US" sz="990" b="1" dirty="0">
                <a:solidFill>
                  <a:srgbClr val="0F1B2D"/>
                </a:solidFill>
                <a:latin typeface="IBM Plex Sans" pitchFamily="34" charset="0"/>
                <a:ea typeface="IBM Plex Sans" pitchFamily="34" charset="-122"/>
                <a:cs typeface="IBM Plex Sans" pitchFamily="34" charset="-120"/>
              </a:rPr>
              <a:t>43.5</a:t>
            </a:r>
            <a:r>
              <a:rPr lang="en-US" sz="990" dirty="0">
                <a:solidFill>
                  <a:srgbClr val="4A5568"/>
                </a:solidFill>
                <a:latin typeface="IBM Plex Sans" pitchFamily="34" charset="0"/>
                <a:ea typeface="IBM Plex Sans" pitchFamily="34" charset="-122"/>
                <a:cs typeface="IBM Plex Sans" pitchFamily="34" charset="-120"/>
              </a:rPr>
              <a:t> for just copying last week's price</a:t>
            </a:r>
            <a:endParaRPr lang="en-US" sz="990" dirty="0"/>
          </a:p>
        </p:txBody>
      </p:sp>
      <p:sp>
        <p:nvSpPr>
          <p:cNvPr id="22" name="Shape 18"/>
          <p:cNvSpPr/>
          <p:nvPr/>
        </p:nvSpPr>
        <p:spPr>
          <a:xfrm>
            <a:off x="6156325" y="1595735"/>
            <a:ext cx="2562225" cy="3389709"/>
          </a:xfrm>
          <a:prstGeom prst="roundRect">
            <a:avLst>
              <a:gd name="adj" fmla="val 3841"/>
            </a:avLst>
          </a:prstGeom>
          <a:solidFill>
            <a:srgbClr val="FFFEFB"/>
          </a:solidFill>
          <a:ln w="6350">
            <a:solidFill>
              <a:srgbClr val="DED9CE"/>
            </a:solidFill>
            <a:prstDash val="solid"/>
          </a:ln>
        </p:spPr>
        <p:txBody>
          <a:bodyPr/>
          <a:lstStyle/>
          <a:p>
            <a:endParaRPr lang="en-IE"/>
          </a:p>
        </p:txBody>
      </p:sp>
      <p:sp>
        <p:nvSpPr>
          <p:cNvPr id="23" name="Shape 19"/>
          <p:cNvSpPr/>
          <p:nvPr/>
        </p:nvSpPr>
        <p:spPr>
          <a:xfrm>
            <a:off x="6362700" y="1802110"/>
            <a:ext cx="457200" cy="457200"/>
          </a:xfrm>
          <a:prstGeom prst="roundRect">
            <a:avLst>
              <a:gd name="adj" fmla="val 19444"/>
            </a:avLst>
          </a:prstGeom>
          <a:solidFill>
            <a:srgbClr val="E9EEF3"/>
          </a:solidFill>
          <a:ln/>
        </p:spPr>
        <p:txBody>
          <a:bodyPr/>
          <a:lstStyle/>
          <a:p>
            <a:endParaRPr lang="en-IE"/>
          </a:p>
        </p:txBody>
      </p:sp>
      <p:pic>
        <p:nvPicPr>
          <p:cNvPr id="24" name="Image 2" descr="Activity"/>
          <p:cNvPicPr>
            <a:picLocks noChangeAspect="1"/>
          </p:cNvPicPr>
          <p:nvPr/>
        </p:nvPicPr>
        <p:blipFill>
          <a:blip r:embed="rId5"/>
          <a:srcRect/>
          <a:stretch/>
        </p:blipFill>
        <p:spPr>
          <a:xfrm>
            <a:off x="6451600" y="1891010"/>
            <a:ext cx="279400" cy="279400"/>
          </a:xfrm>
          <a:prstGeom prst="rect">
            <a:avLst/>
          </a:prstGeom>
        </p:spPr>
      </p:pic>
      <p:sp>
        <p:nvSpPr>
          <p:cNvPr id="25" name="Text 20"/>
          <p:cNvSpPr/>
          <p:nvPr/>
        </p:nvSpPr>
        <p:spPr>
          <a:xfrm>
            <a:off x="8214271" y="1827510"/>
            <a:ext cx="297904" cy="431800"/>
          </a:xfrm>
          <a:prstGeom prst="rect">
            <a:avLst/>
          </a:prstGeom>
          <a:noFill/>
          <a:ln/>
        </p:spPr>
        <p:txBody>
          <a:bodyPr wrap="square" lIns="0" tIns="0" rIns="0" bIns="0" rtlCol="0" anchor="t">
            <a:normAutofit/>
          </a:bodyPr>
          <a:lstStyle/>
          <a:p>
            <a:pPr marL="0" indent="0" algn="r">
              <a:lnSpc>
                <a:spcPts val="3200"/>
              </a:lnSpc>
              <a:buNone/>
            </a:pPr>
            <a:r>
              <a:rPr lang="en-US" sz="3200" b="1" dirty="0">
                <a:solidFill>
                  <a:srgbClr val="7F98B3"/>
                </a:solidFill>
                <a:latin typeface="Space Grotesk" pitchFamily="34" charset="0"/>
                <a:ea typeface="Space Grotesk" pitchFamily="34" charset="-122"/>
                <a:cs typeface="Space Grotesk" pitchFamily="34" charset="-120"/>
              </a:rPr>
              <a:t>3</a:t>
            </a:r>
            <a:endParaRPr lang="en-US" sz="3200" dirty="0"/>
          </a:p>
        </p:txBody>
      </p:sp>
      <p:sp>
        <p:nvSpPr>
          <p:cNvPr id="26" name="Text 21"/>
          <p:cNvSpPr/>
          <p:nvPr/>
        </p:nvSpPr>
        <p:spPr>
          <a:xfrm>
            <a:off x="6362700" y="2348210"/>
            <a:ext cx="2213959" cy="667941"/>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0F1B2D"/>
                </a:solidFill>
                <a:latin typeface="Space Grotesk" pitchFamily="34" charset="0"/>
                <a:ea typeface="Space Grotesk" pitchFamily="34" charset="-122"/>
                <a:cs typeface="Space Grotesk" pitchFamily="34" charset="-120"/>
              </a:rPr>
              <a:t>Measure normal wobble</a:t>
            </a:r>
            <a:endParaRPr lang="en-US" sz="2200" dirty="0"/>
          </a:p>
        </p:txBody>
      </p:sp>
      <p:sp>
        <p:nvSpPr>
          <p:cNvPr id="27" name="Text 22"/>
          <p:cNvSpPr/>
          <p:nvPr/>
        </p:nvSpPr>
        <p:spPr>
          <a:xfrm>
            <a:off x="6362700" y="3079651"/>
            <a:ext cx="221395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Nov 2025 – mid-Feb 2026</a:t>
            </a:r>
            <a:endParaRPr lang="en-US" sz="1300" dirty="0"/>
          </a:p>
        </p:txBody>
      </p:sp>
      <p:sp>
        <p:nvSpPr>
          <p:cNvPr id="28" name="Text 23"/>
          <p:cNvSpPr/>
          <p:nvPr/>
        </p:nvSpPr>
        <p:spPr>
          <a:xfrm>
            <a:off x="6362700" y="3399681"/>
            <a:ext cx="2213959" cy="10541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0F1B2D"/>
                </a:solidFill>
                <a:latin typeface="IBM Plex Sans" pitchFamily="34" charset="0"/>
                <a:ea typeface="IBM Plex Sans" pitchFamily="34" charset="-122"/>
                <a:cs typeface="IBM Plex Sans" pitchFamily="34" charset="-120"/>
              </a:rPr>
              <a:t>No shock yet. How much does the ranking move on its own? That sets the warning line.</a:t>
            </a:r>
            <a:endParaRPr lang="en-US" sz="1500" dirty="0"/>
          </a:p>
        </p:txBody>
      </p:sp>
      <p:sp>
        <p:nvSpPr>
          <p:cNvPr id="29" name="Shape 24"/>
          <p:cNvSpPr/>
          <p:nvPr/>
        </p:nvSpPr>
        <p:spPr>
          <a:xfrm>
            <a:off x="8823325" y="1592560"/>
            <a:ext cx="2555875" cy="3396059"/>
          </a:xfrm>
          <a:prstGeom prst="roundRect">
            <a:avLst>
              <a:gd name="adj" fmla="val 3975"/>
            </a:avLst>
          </a:prstGeom>
          <a:solidFill>
            <a:srgbClr val="0F1B2D"/>
          </a:solidFill>
          <a:ln/>
        </p:spPr>
        <p:txBody>
          <a:bodyPr/>
          <a:lstStyle/>
          <a:p>
            <a:endParaRPr lang="en-IE"/>
          </a:p>
        </p:txBody>
      </p:sp>
      <p:sp>
        <p:nvSpPr>
          <p:cNvPr id="30" name="Shape 25"/>
          <p:cNvSpPr/>
          <p:nvPr/>
        </p:nvSpPr>
        <p:spPr>
          <a:xfrm>
            <a:off x="8823325" y="1592560"/>
            <a:ext cx="2555875" cy="3396059"/>
          </a:xfrm>
          <a:custGeom>
            <a:avLst/>
            <a:gdLst/>
            <a:ahLst/>
            <a:cxnLst/>
            <a:rect l="l" t="t" r="r" b="b"/>
            <a:pathLst>
              <a:path w="2555875" h="3396059">
                <a:moveTo>
                  <a:pt x="0" y="101600"/>
                </a:moveTo>
                <a:lnTo>
                  <a:pt x="0" y="101600"/>
                </a:lnTo>
                <a:arcTo wR="101600" hR="101600" stAng="10800000" swAng="5400000"/>
                <a:lnTo>
                  <a:pt x="2454275" y="0"/>
                </a:lnTo>
                <a:arcTo wR="101600" hR="101600" stAng="16200000" swAng="5400000"/>
                <a:lnTo>
                  <a:pt x="2555875" y="101600"/>
                </a:lnTo>
                <a:arcTo wR="101600" hR="38100" stAng="0" swAng="-5400000"/>
                <a:lnTo>
                  <a:pt x="101600" y="63500"/>
                </a:lnTo>
                <a:arcTo wR="101600" hR="38100" stAng="16200000" swAng="-5400000"/>
                <a:close/>
              </a:path>
            </a:pathLst>
          </a:custGeom>
          <a:solidFill>
            <a:srgbClr val="E07B39"/>
          </a:solidFill>
          <a:ln/>
        </p:spPr>
        <p:txBody>
          <a:bodyPr/>
          <a:lstStyle/>
          <a:p>
            <a:endParaRPr lang="en-IE"/>
          </a:p>
        </p:txBody>
      </p:sp>
      <p:sp>
        <p:nvSpPr>
          <p:cNvPr id="31" name="Shape 26"/>
          <p:cNvSpPr/>
          <p:nvPr/>
        </p:nvSpPr>
        <p:spPr>
          <a:xfrm>
            <a:off x="9026525" y="1859260"/>
            <a:ext cx="457200" cy="457200"/>
          </a:xfrm>
          <a:prstGeom prst="roundRect">
            <a:avLst>
              <a:gd name="adj" fmla="val 19444"/>
            </a:avLst>
          </a:prstGeom>
          <a:solidFill>
            <a:srgbClr val="23324A"/>
          </a:solidFill>
          <a:ln/>
        </p:spPr>
        <p:txBody>
          <a:bodyPr/>
          <a:lstStyle/>
          <a:p>
            <a:endParaRPr lang="en-IE"/>
          </a:p>
        </p:txBody>
      </p:sp>
      <p:pic>
        <p:nvPicPr>
          <p:cNvPr id="32" name="Image 3" descr="Search"/>
          <p:cNvPicPr>
            <a:picLocks noChangeAspect="1"/>
          </p:cNvPicPr>
          <p:nvPr/>
        </p:nvPicPr>
        <p:blipFill>
          <a:blip r:embed="rId6"/>
          <a:srcRect/>
          <a:stretch/>
        </p:blipFill>
        <p:spPr>
          <a:xfrm>
            <a:off x="9115425" y="1948160"/>
            <a:ext cx="279400" cy="279400"/>
          </a:xfrm>
          <a:prstGeom prst="rect">
            <a:avLst/>
          </a:prstGeom>
        </p:spPr>
      </p:pic>
      <p:sp>
        <p:nvSpPr>
          <p:cNvPr id="33" name="Text 27"/>
          <p:cNvSpPr/>
          <p:nvPr/>
        </p:nvSpPr>
        <p:spPr>
          <a:xfrm>
            <a:off x="10865783" y="1884660"/>
            <a:ext cx="310217" cy="431800"/>
          </a:xfrm>
          <a:prstGeom prst="rect">
            <a:avLst/>
          </a:prstGeom>
          <a:noFill/>
          <a:ln/>
        </p:spPr>
        <p:txBody>
          <a:bodyPr wrap="square" lIns="0" tIns="0" rIns="0" bIns="0" rtlCol="0" anchor="t">
            <a:normAutofit/>
          </a:bodyPr>
          <a:lstStyle/>
          <a:p>
            <a:pPr marL="0" indent="0" algn="r">
              <a:lnSpc>
                <a:spcPts val="3200"/>
              </a:lnSpc>
              <a:buNone/>
            </a:pPr>
            <a:r>
              <a:rPr lang="en-US" sz="3200" b="1" dirty="0">
                <a:solidFill>
                  <a:srgbClr val="E07B39"/>
                </a:solidFill>
                <a:latin typeface="Space Grotesk" pitchFamily="34" charset="0"/>
                <a:ea typeface="Space Grotesk" pitchFamily="34" charset="-122"/>
                <a:cs typeface="Space Grotesk" pitchFamily="34" charset="-120"/>
              </a:rPr>
              <a:t>4</a:t>
            </a:r>
            <a:endParaRPr lang="en-US" sz="3200" dirty="0"/>
          </a:p>
        </p:txBody>
      </p:sp>
      <p:sp>
        <p:nvSpPr>
          <p:cNvPr id="34" name="Text 28"/>
          <p:cNvSpPr/>
          <p:nvPr/>
        </p:nvSpPr>
        <p:spPr>
          <a:xfrm>
            <a:off x="9026525" y="2405360"/>
            <a:ext cx="2213959"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5F3EE"/>
                </a:solidFill>
                <a:latin typeface="Space Grotesk" pitchFamily="34" charset="0"/>
                <a:ea typeface="Space Grotesk" pitchFamily="34" charset="-122"/>
                <a:cs typeface="Space Grotesk" pitchFamily="34" charset="-120"/>
              </a:rPr>
              <a:t>Watch</a:t>
            </a:r>
            <a:endParaRPr lang="en-US" sz="2200" dirty="0"/>
          </a:p>
        </p:txBody>
      </p:sp>
      <p:sp>
        <p:nvSpPr>
          <p:cNvPr id="35" name="Text 29"/>
          <p:cNvSpPr/>
          <p:nvPr/>
        </p:nvSpPr>
        <p:spPr>
          <a:xfrm>
            <a:off x="9026525" y="2815530"/>
            <a:ext cx="2213959"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07B39"/>
                </a:solidFill>
                <a:latin typeface="IBM Plex Sans" pitchFamily="34" charset="0"/>
                <a:ea typeface="IBM Plex Sans" pitchFamily="34" charset="-122"/>
                <a:cs typeface="IBM Plex Sans" pitchFamily="34" charset="-120"/>
              </a:rPr>
              <a:t>From the shock, 28 Feb 2026</a:t>
            </a:r>
            <a:endParaRPr lang="en-US" sz="1300" dirty="0"/>
          </a:p>
        </p:txBody>
      </p:sp>
      <p:sp>
        <p:nvSpPr>
          <p:cNvPr id="36" name="Text 30"/>
          <p:cNvSpPr/>
          <p:nvPr/>
        </p:nvSpPr>
        <p:spPr>
          <a:xfrm>
            <a:off x="9026525" y="3366691"/>
            <a:ext cx="2213959" cy="10541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3CEDB"/>
                </a:solidFill>
                <a:latin typeface="IBM Plex Sans" pitchFamily="34" charset="0"/>
                <a:ea typeface="IBM Plex Sans" pitchFamily="34" charset="-122"/>
                <a:cs typeface="IBM Plex Sans" pitchFamily="34" charset="-120"/>
              </a:rPr>
              <a:t>Forecast every day. Every 2 weeks: compare the ranking with October, and check the error.</a:t>
            </a:r>
            <a:endParaRPr lang="en-US" sz="1500" dirty="0"/>
          </a:p>
        </p:txBody>
      </p:sp>
      <p:sp>
        <p:nvSpPr>
          <p:cNvPr id="37" name="Shape 31"/>
          <p:cNvSpPr/>
          <p:nvPr/>
        </p:nvSpPr>
        <p:spPr>
          <a:xfrm>
            <a:off x="812800" y="5242620"/>
            <a:ext cx="10566400" cy="802580"/>
          </a:xfrm>
          <a:prstGeom prst="roundRect">
            <a:avLst>
              <a:gd name="adj" fmla="val 11077"/>
            </a:avLst>
          </a:prstGeom>
          <a:solidFill>
            <a:srgbClr val="E9E5DC"/>
          </a:solidFill>
          <a:ln/>
        </p:spPr>
        <p:txBody>
          <a:bodyPr/>
          <a:lstStyle/>
          <a:p>
            <a:endParaRPr lang="en-IE"/>
          </a:p>
        </p:txBody>
      </p:sp>
      <p:pic>
        <p:nvPicPr>
          <p:cNvPr id="38" name="Image 4" descr="Lock"/>
          <p:cNvPicPr>
            <a:picLocks noChangeAspect="1"/>
          </p:cNvPicPr>
          <p:nvPr/>
        </p:nvPicPr>
        <p:blipFill>
          <a:blip r:embed="rId7"/>
          <a:srcRect t="-561" b="-561"/>
          <a:stretch/>
        </p:blipFill>
        <p:spPr>
          <a:xfrm>
            <a:off x="990600" y="5504210"/>
            <a:ext cx="238621" cy="279400"/>
          </a:xfrm>
          <a:prstGeom prst="rect">
            <a:avLst/>
          </a:prstGeom>
        </p:spPr>
      </p:pic>
      <p:sp>
        <p:nvSpPr>
          <p:cNvPr id="39" name="Text 32"/>
          <p:cNvSpPr/>
          <p:nvPr/>
        </p:nvSpPr>
        <p:spPr>
          <a:xfrm>
            <a:off x="1356221" y="5369620"/>
            <a:ext cx="10140534" cy="57398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0F1B2D"/>
                </a:solidFill>
                <a:latin typeface="IBM Plex Sans" pitchFamily="34" charset="0"/>
                <a:ea typeface="IBM Plex Sans" pitchFamily="34" charset="-122"/>
                <a:cs typeface="IBM Plex Sans" pitchFamily="34" charset="-120"/>
              </a:rPr>
              <a:t>Trained once, then frozen.</a:t>
            </a:r>
            <a:r>
              <a:rPr lang="en-US" sz="1600" dirty="0">
                <a:solidFill>
                  <a:srgbClr val="0F1B2D"/>
                </a:solidFill>
                <a:latin typeface="IBM Plex Sans" pitchFamily="34" charset="0"/>
                <a:ea typeface="IBM Plex Sans" pitchFamily="34" charset="-122"/>
                <a:cs typeface="IBM Plex Sans" pitchFamily="34" charset="-120"/>
              </a:rPr>
              <a:t> </a:t>
            </a:r>
            <a:r>
              <a:rPr lang="en-US" sz="1600" dirty="0">
                <a:solidFill>
                  <a:srgbClr val="4A5568"/>
                </a:solidFill>
                <a:latin typeface="IBM Plex Sans" pitchFamily="34" charset="0"/>
                <a:ea typeface="IBM Plex Sans" pitchFamily="34" charset="-122"/>
                <a:cs typeface="IBM Plex Sans" pitchFamily="34" charset="-120"/>
              </a:rPr>
              <a:t>No retraining, so any change in its reasoning comes from the world changing, not from new training.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0F1B2D"/>
                </a:solidFill>
                <a:latin typeface="Space Grotesk" pitchFamily="34" charset="0"/>
                <a:ea typeface="Space Grotesk" pitchFamily="34" charset="-122"/>
                <a:cs typeface="Space Grotesk" pitchFamily="34" charset="-120"/>
              </a:rPr>
              <a:t>Measuring how far the ranking moves</a:t>
            </a:r>
            <a:endParaRPr lang="en-US" sz="3600" dirty="0"/>
          </a:p>
        </p:txBody>
      </p:sp>
      <p:sp>
        <p:nvSpPr>
          <p:cNvPr id="3" name="Text 1"/>
          <p:cNvSpPr/>
          <p:nvPr/>
        </p:nvSpPr>
        <p:spPr>
          <a:xfrm>
            <a:off x="812800" y="1841500"/>
            <a:ext cx="274701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A1E"/>
                </a:solidFill>
                <a:latin typeface="IBM Plex Sans" pitchFamily="34" charset="0"/>
                <a:ea typeface="IBM Plex Sans" pitchFamily="34" charset="-122"/>
                <a:cs typeface="IBM Plex Sans" pitchFamily="34" charset="-120"/>
              </a:rPr>
              <a:t>OCTOBER 2025</a:t>
            </a:r>
            <a:endParaRPr lang="en-US" sz="1200" dirty="0"/>
          </a:p>
        </p:txBody>
      </p:sp>
      <p:sp>
        <p:nvSpPr>
          <p:cNvPr id="4" name="Text 2"/>
          <p:cNvSpPr/>
          <p:nvPr/>
        </p:nvSpPr>
        <p:spPr>
          <a:xfrm>
            <a:off x="4826000" y="1841500"/>
            <a:ext cx="274701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A1E"/>
                </a:solidFill>
                <a:latin typeface="IBM Plex Sans" pitchFamily="34" charset="0"/>
                <a:ea typeface="IBM Plex Sans" pitchFamily="34" charset="-122"/>
                <a:cs typeface="IBM Plex Sans" pitchFamily="34" charset="-120"/>
              </a:rPr>
              <a:t>EARLY JUNE 2026</a:t>
            </a:r>
            <a:endParaRPr lang="en-US" sz="1200" dirty="0"/>
          </a:p>
        </p:txBody>
      </p:sp>
      <p:sp>
        <p:nvSpPr>
          <p:cNvPr id="5" name="Shape 3"/>
          <p:cNvSpPr/>
          <p:nvPr/>
        </p:nvSpPr>
        <p:spPr>
          <a:xfrm>
            <a:off x="819150" y="2165350"/>
            <a:ext cx="2654300" cy="393700"/>
          </a:xfrm>
          <a:prstGeom prst="roundRect">
            <a:avLst>
              <a:gd name="adj" fmla="val 14516"/>
            </a:avLst>
          </a:prstGeom>
          <a:solidFill>
            <a:srgbClr val="FFFEFB"/>
          </a:solidFill>
          <a:ln w="12700">
            <a:solidFill>
              <a:srgbClr val="E07B39"/>
            </a:solidFill>
            <a:prstDash val="solid"/>
          </a:ln>
        </p:spPr>
        <p:txBody>
          <a:bodyPr/>
          <a:lstStyle/>
          <a:p>
            <a:endParaRPr lang="en-IE"/>
          </a:p>
        </p:txBody>
      </p:sp>
      <p:sp>
        <p:nvSpPr>
          <p:cNvPr id="6" name="Shape 4"/>
          <p:cNvSpPr/>
          <p:nvPr/>
        </p:nvSpPr>
        <p:spPr>
          <a:xfrm>
            <a:off x="952500" y="2286000"/>
            <a:ext cx="152400" cy="152400"/>
          </a:xfrm>
          <a:prstGeom prst="roundRect">
            <a:avLst>
              <a:gd name="adj" fmla="val 16667"/>
            </a:avLst>
          </a:prstGeom>
          <a:solidFill>
            <a:srgbClr val="2F6FAE"/>
          </a:solidFill>
          <a:ln/>
        </p:spPr>
        <p:txBody>
          <a:bodyPr/>
          <a:lstStyle/>
          <a:p>
            <a:endParaRPr lang="en-IE"/>
          </a:p>
        </p:txBody>
      </p:sp>
      <p:sp>
        <p:nvSpPr>
          <p:cNvPr id="7" name="Text 5"/>
          <p:cNvSpPr/>
          <p:nvPr/>
        </p:nvSpPr>
        <p:spPr>
          <a:xfrm>
            <a:off x="1193800" y="2237730"/>
            <a:ext cx="66681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1</a:t>
            </a:r>
            <a:r>
              <a:rPr lang="en-US" sz="1400" dirty="0">
                <a:solidFill>
                  <a:srgbClr val="0F1B2D"/>
                </a:solidFill>
                <a:latin typeface="IBM Plex Sans" pitchFamily="34" charset="0"/>
                <a:ea typeface="IBM Plex Sans" pitchFamily="34" charset="-122"/>
                <a:cs typeface="IBM Plex Sans" pitchFamily="34" charset="-120"/>
              </a:rPr>
              <a:t> Wind</a:t>
            </a:r>
            <a:endParaRPr lang="en-US" sz="1400" dirty="0"/>
          </a:p>
        </p:txBody>
      </p:sp>
      <p:sp>
        <p:nvSpPr>
          <p:cNvPr id="8" name="Shape 6"/>
          <p:cNvSpPr/>
          <p:nvPr/>
        </p:nvSpPr>
        <p:spPr>
          <a:xfrm>
            <a:off x="815975" y="2695575"/>
            <a:ext cx="2660650" cy="400050"/>
          </a:xfrm>
          <a:prstGeom prst="roundRect">
            <a:avLst>
              <a:gd name="adj" fmla="val 15079"/>
            </a:avLst>
          </a:prstGeom>
          <a:solidFill>
            <a:srgbClr val="FFFEFB"/>
          </a:solidFill>
          <a:ln w="6350">
            <a:solidFill>
              <a:srgbClr val="DED9CE"/>
            </a:solidFill>
            <a:prstDash val="solid"/>
          </a:ln>
        </p:spPr>
        <p:txBody>
          <a:bodyPr/>
          <a:lstStyle/>
          <a:p>
            <a:endParaRPr lang="en-IE"/>
          </a:p>
        </p:txBody>
      </p:sp>
      <p:sp>
        <p:nvSpPr>
          <p:cNvPr id="9" name="Shape 7"/>
          <p:cNvSpPr/>
          <p:nvPr/>
        </p:nvSpPr>
        <p:spPr>
          <a:xfrm>
            <a:off x="946150" y="2819400"/>
            <a:ext cx="152400" cy="152400"/>
          </a:xfrm>
          <a:prstGeom prst="roundRect">
            <a:avLst>
              <a:gd name="adj" fmla="val 16667"/>
            </a:avLst>
          </a:prstGeom>
          <a:solidFill>
            <a:srgbClr val="14524A"/>
          </a:solidFill>
          <a:ln/>
        </p:spPr>
        <p:txBody>
          <a:bodyPr/>
          <a:lstStyle/>
          <a:p>
            <a:endParaRPr lang="en-IE"/>
          </a:p>
        </p:txBody>
      </p:sp>
      <p:sp>
        <p:nvSpPr>
          <p:cNvPr id="10" name="Text 8"/>
          <p:cNvSpPr/>
          <p:nvPr/>
        </p:nvSpPr>
        <p:spPr>
          <a:xfrm>
            <a:off x="1187450" y="2771130"/>
            <a:ext cx="181385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2</a:t>
            </a:r>
            <a:r>
              <a:rPr lang="en-US" sz="1400" dirty="0">
                <a:solidFill>
                  <a:srgbClr val="0F1B2D"/>
                </a:solidFill>
                <a:latin typeface="IBM Plex Sans" pitchFamily="34" charset="0"/>
                <a:ea typeface="IBM Plex Sans" pitchFamily="34" charset="-122"/>
                <a:cs typeface="IBM Plex Sans" pitchFamily="34" charset="-120"/>
              </a:rPr>
              <a:t> Yesterday's price</a:t>
            </a:r>
            <a:endParaRPr lang="en-US" sz="1400" dirty="0"/>
          </a:p>
        </p:txBody>
      </p:sp>
      <p:sp>
        <p:nvSpPr>
          <p:cNvPr id="11" name="Shape 9"/>
          <p:cNvSpPr/>
          <p:nvPr/>
        </p:nvSpPr>
        <p:spPr>
          <a:xfrm>
            <a:off x="819150" y="3232150"/>
            <a:ext cx="2654300" cy="393700"/>
          </a:xfrm>
          <a:prstGeom prst="roundRect">
            <a:avLst>
              <a:gd name="adj" fmla="val 14516"/>
            </a:avLst>
          </a:prstGeom>
          <a:solidFill>
            <a:srgbClr val="FFFEFB"/>
          </a:solidFill>
          <a:ln w="12700">
            <a:solidFill>
              <a:srgbClr val="E07B39"/>
            </a:solidFill>
            <a:prstDash val="solid"/>
          </a:ln>
        </p:spPr>
        <p:txBody>
          <a:bodyPr/>
          <a:lstStyle/>
          <a:p>
            <a:endParaRPr lang="en-IE"/>
          </a:p>
        </p:txBody>
      </p:sp>
      <p:sp>
        <p:nvSpPr>
          <p:cNvPr id="12" name="Shape 10"/>
          <p:cNvSpPr/>
          <p:nvPr/>
        </p:nvSpPr>
        <p:spPr>
          <a:xfrm>
            <a:off x="952500" y="3352800"/>
            <a:ext cx="152400" cy="152400"/>
          </a:xfrm>
          <a:prstGeom prst="roundRect">
            <a:avLst>
              <a:gd name="adj" fmla="val 16667"/>
            </a:avLst>
          </a:prstGeom>
          <a:solidFill>
            <a:srgbClr val="E3A82B"/>
          </a:solidFill>
          <a:ln/>
        </p:spPr>
        <p:txBody>
          <a:bodyPr/>
          <a:lstStyle/>
          <a:p>
            <a:endParaRPr lang="en-IE"/>
          </a:p>
        </p:txBody>
      </p:sp>
      <p:sp>
        <p:nvSpPr>
          <p:cNvPr id="13" name="Text 11"/>
          <p:cNvSpPr/>
          <p:nvPr/>
        </p:nvSpPr>
        <p:spPr>
          <a:xfrm>
            <a:off x="1193800" y="3304530"/>
            <a:ext cx="67216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3</a:t>
            </a:r>
            <a:r>
              <a:rPr lang="en-US" sz="1400" dirty="0">
                <a:solidFill>
                  <a:srgbClr val="0F1B2D"/>
                </a:solidFill>
                <a:latin typeface="IBM Plex Sans" pitchFamily="34" charset="0"/>
                <a:ea typeface="IBM Plex Sans" pitchFamily="34" charset="-122"/>
                <a:cs typeface="IBM Plex Sans" pitchFamily="34" charset="-120"/>
              </a:rPr>
              <a:t> Solar</a:t>
            </a:r>
            <a:endParaRPr lang="en-US" sz="1400" dirty="0"/>
          </a:p>
        </p:txBody>
      </p:sp>
      <p:sp>
        <p:nvSpPr>
          <p:cNvPr id="14" name="Shape 12"/>
          <p:cNvSpPr/>
          <p:nvPr/>
        </p:nvSpPr>
        <p:spPr>
          <a:xfrm>
            <a:off x="815975" y="3762375"/>
            <a:ext cx="2660650" cy="400050"/>
          </a:xfrm>
          <a:prstGeom prst="roundRect">
            <a:avLst>
              <a:gd name="adj" fmla="val 15079"/>
            </a:avLst>
          </a:prstGeom>
          <a:solidFill>
            <a:srgbClr val="FFFEFB"/>
          </a:solidFill>
          <a:ln w="6350">
            <a:solidFill>
              <a:srgbClr val="DED9CE"/>
            </a:solidFill>
            <a:prstDash val="solid"/>
          </a:ln>
        </p:spPr>
        <p:txBody>
          <a:bodyPr/>
          <a:lstStyle/>
          <a:p>
            <a:endParaRPr lang="en-IE"/>
          </a:p>
        </p:txBody>
      </p:sp>
      <p:sp>
        <p:nvSpPr>
          <p:cNvPr id="15" name="Shape 13"/>
          <p:cNvSpPr/>
          <p:nvPr/>
        </p:nvSpPr>
        <p:spPr>
          <a:xfrm>
            <a:off x="946150" y="3886200"/>
            <a:ext cx="152400" cy="152400"/>
          </a:xfrm>
          <a:prstGeom prst="roundRect">
            <a:avLst>
              <a:gd name="adj" fmla="val 16667"/>
            </a:avLst>
          </a:prstGeom>
          <a:solidFill>
            <a:srgbClr val="A6927A"/>
          </a:solidFill>
          <a:ln/>
        </p:spPr>
        <p:txBody>
          <a:bodyPr/>
          <a:lstStyle/>
          <a:p>
            <a:endParaRPr lang="en-IE"/>
          </a:p>
        </p:txBody>
      </p:sp>
      <p:sp>
        <p:nvSpPr>
          <p:cNvPr id="16" name="Text 14"/>
          <p:cNvSpPr/>
          <p:nvPr/>
        </p:nvSpPr>
        <p:spPr>
          <a:xfrm>
            <a:off x="1187450" y="3837930"/>
            <a:ext cx="98387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4</a:t>
            </a:r>
            <a:r>
              <a:rPr lang="en-US" sz="1400" dirty="0">
                <a:solidFill>
                  <a:srgbClr val="0F1B2D"/>
                </a:solidFill>
                <a:latin typeface="IBM Plex Sans" pitchFamily="34" charset="0"/>
                <a:ea typeface="IBM Plex Sans" pitchFamily="34" charset="-122"/>
                <a:cs typeface="IBM Plex Sans" pitchFamily="34" charset="-120"/>
              </a:rPr>
              <a:t> Demand</a:t>
            </a:r>
            <a:endParaRPr lang="en-US" sz="1400" dirty="0"/>
          </a:p>
        </p:txBody>
      </p:sp>
      <p:sp>
        <p:nvSpPr>
          <p:cNvPr id="17" name="Shape 15"/>
          <p:cNvSpPr/>
          <p:nvPr/>
        </p:nvSpPr>
        <p:spPr>
          <a:xfrm>
            <a:off x="815975" y="4295775"/>
            <a:ext cx="2660650" cy="400050"/>
          </a:xfrm>
          <a:prstGeom prst="roundRect">
            <a:avLst>
              <a:gd name="adj" fmla="val 15079"/>
            </a:avLst>
          </a:prstGeom>
          <a:solidFill>
            <a:srgbClr val="FFFEFB"/>
          </a:solidFill>
          <a:ln w="6350">
            <a:solidFill>
              <a:srgbClr val="DED9CE"/>
            </a:solidFill>
            <a:prstDash val="solid"/>
          </a:ln>
        </p:spPr>
        <p:txBody>
          <a:bodyPr/>
          <a:lstStyle/>
          <a:p>
            <a:endParaRPr lang="en-IE"/>
          </a:p>
        </p:txBody>
      </p:sp>
      <p:sp>
        <p:nvSpPr>
          <p:cNvPr id="18" name="Shape 16"/>
          <p:cNvSpPr/>
          <p:nvPr/>
        </p:nvSpPr>
        <p:spPr>
          <a:xfrm>
            <a:off x="946150" y="4419600"/>
            <a:ext cx="152400" cy="152400"/>
          </a:xfrm>
          <a:prstGeom prst="roundRect">
            <a:avLst>
              <a:gd name="adj" fmla="val 16667"/>
            </a:avLst>
          </a:prstGeom>
          <a:solidFill>
            <a:srgbClr val="8A5AA8"/>
          </a:solidFill>
          <a:ln/>
        </p:spPr>
        <p:txBody>
          <a:bodyPr/>
          <a:lstStyle/>
          <a:p>
            <a:endParaRPr lang="en-IE"/>
          </a:p>
        </p:txBody>
      </p:sp>
      <p:sp>
        <p:nvSpPr>
          <p:cNvPr id="19" name="Text 17"/>
          <p:cNvSpPr/>
          <p:nvPr/>
        </p:nvSpPr>
        <p:spPr>
          <a:xfrm>
            <a:off x="1187450" y="4371330"/>
            <a:ext cx="182064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5</a:t>
            </a:r>
            <a:r>
              <a:rPr lang="en-US" sz="1400" dirty="0">
                <a:solidFill>
                  <a:srgbClr val="0F1B2D"/>
                </a:solidFill>
                <a:latin typeface="IBM Plex Sans" pitchFamily="34" charset="0"/>
                <a:ea typeface="IBM Plex Sans" pitchFamily="34" charset="-122"/>
                <a:cs typeface="IBM Plex Sans" pitchFamily="34" charset="-120"/>
              </a:rPr>
              <a:t> Last week's price</a:t>
            </a:r>
            <a:endParaRPr lang="en-US" sz="1400" dirty="0"/>
          </a:p>
        </p:txBody>
      </p:sp>
      <p:sp>
        <p:nvSpPr>
          <p:cNvPr id="20" name="Shape 18"/>
          <p:cNvSpPr/>
          <p:nvPr/>
        </p:nvSpPr>
        <p:spPr>
          <a:xfrm>
            <a:off x="4832350" y="2165350"/>
            <a:ext cx="2654300" cy="393700"/>
          </a:xfrm>
          <a:prstGeom prst="roundRect">
            <a:avLst>
              <a:gd name="adj" fmla="val 14516"/>
            </a:avLst>
          </a:prstGeom>
          <a:solidFill>
            <a:srgbClr val="FFFEFB"/>
          </a:solidFill>
          <a:ln w="12700">
            <a:solidFill>
              <a:srgbClr val="E07B39"/>
            </a:solidFill>
            <a:prstDash val="solid"/>
          </a:ln>
        </p:spPr>
        <p:txBody>
          <a:bodyPr/>
          <a:lstStyle/>
          <a:p>
            <a:endParaRPr lang="en-IE"/>
          </a:p>
        </p:txBody>
      </p:sp>
      <p:sp>
        <p:nvSpPr>
          <p:cNvPr id="21" name="Shape 19"/>
          <p:cNvSpPr/>
          <p:nvPr/>
        </p:nvSpPr>
        <p:spPr>
          <a:xfrm>
            <a:off x="4965700" y="2286000"/>
            <a:ext cx="152400" cy="152400"/>
          </a:xfrm>
          <a:prstGeom prst="roundRect">
            <a:avLst>
              <a:gd name="adj" fmla="val 16667"/>
            </a:avLst>
          </a:prstGeom>
          <a:solidFill>
            <a:srgbClr val="E3A82B"/>
          </a:solidFill>
          <a:ln/>
        </p:spPr>
        <p:txBody>
          <a:bodyPr/>
          <a:lstStyle/>
          <a:p>
            <a:endParaRPr lang="en-IE"/>
          </a:p>
        </p:txBody>
      </p:sp>
      <p:sp>
        <p:nvSpPr>
          <p:cNvPr id="22" name="Text 20"/>
          <p:cNvSpPr/>
          <p:nvPr/>
        </p:nvSpPr>
        <p:spPr>
          <a:xfrm>
            <a:off x="5207000" y="2237730"/>
            <a:ext cx="67216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1</a:t>
            </a:r>
            <a:r>
              <a:rPr lang="en-US" sz="1400" dirty="0">
                <a:solidFill>
                  <a:srgbClr val="0F1B2D"/>
                </a:solidFill>
                <a:latin typeface="IBM Plex Sans" pitchFamily="34" charset="0"/>
                <a:ea typeface="IBM Plex Sans" pitchFamily="34" charset="-122"/>
                <a:cs typeface="IBM Plex Sans" pitchFamily="34" charset="-120"/>
              </a:rPr>
              <a:t> Solar</a:t>
            </a:r>
            <a:endParaRPr lang="en-US" sz="1400" dirty="0"/>
          </a:p>
        </p:txBody>
      </p:sp>
      <p:sp>
        <p:nvSpPr>
          <p:cNvPr id="23" name="Shape 21"/>
          <p:cNvSpPr/>
          <p:nvPr/>
        </p:nvSpPr>
        <p:spPr>
          <a:xfrm>
            <a:off x="4829175" y="2695575"/>
            <a:ext cx="2660650" cy="400050"/>
          </a:xfrm>
          <a:prstGeom prst="roundRect">
            <a:avLst>
              <a:gd name="adj" fmla="val 15079"/>
            </a:avLst>
          </a:prstGeom>
          <a:solidFill>
            <a:srgbClr val="FFFEFB"/>
          </a:solidFill>
          <a:ln w="6350">
            <a:solidFill>
              <a:srgbClr val="DED9CE"/>
            </a:solidFill>
            <a:prstDash val="solid"/>
          </a:ln>
        </p:spPr>
        <p:txBody>
          <a:bodyPr/>
          <a:lstStyle/>
          <a:p>
            <a:endParaRPr lang="en-IE"/>
          </a:p>
        </p:txBody>
      </p:sp>
      <p:sp>
        <p:nvSpPr>
          <p:cNvPr id="24" name="Shape 22"/>
          <p:cNvSpPr/>
          <p:nvPr/>
        </p:nvSpPr>
        <p:spPr>
          <a:xfrm>
            <a:off x="4959350" y="2819400"/>
            <a:ext cx="152400" cy="152400"/>
          </a:xfrm>
          <a:prstGeom prst="roundRect">
            <a:avLst>
              <a:gd name="adj" fmla="val 16667"/>
            </a:avLst>
          </a:prstGeom>
          <a:solidFill>
            <a:srgbClr val="14524A"/>
          </a:solidFill>
          <a:ln/>
        </p:spPr>
        <p:txBody>
          <a:bodyPr/>
          <a:lstStyle/>
          <a:p>
            <a:endParaRPr lang="en-IE"/>
          </a:p>
        </p:txBody>
      </p:sp>
      <p:sp>
        <p:nvSpPr>
          <p:cNvPr id="25" name="Text 23"/>
          <p:cNvSpPr/>
          <p:nvPr/>
        </p:nvSpPr>
        <p:spPr>
          <a:xfrm>
            <a:off x="5200650" y="2771130"/>
            <a:ext cx="181385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2</a:t>
            </a:r>
            <a:r>
              <a:rPr lang="en-US" sz="1400" dirty="0">
                <a:solidFill>
                  <a:srgbClr val="0F1B2D"/>
                </a:solidFill>
                <a:latin typeface="IBM Plex Sans" pitchFamily="34" charset="0"/>
                <a:ea typeface="IBM Plex Sans" pitchFamily="34" charset="-122"/>
                <a:cs typeface="IBM Plex Sans" pitchFamily="34" charset="-120"/>
              </a:rPr>
              <a:t> Yesterday's price</a:t>
            </a:r>
            <a:endParaRPr lang="en-US" sz="1400" dirty="0"/>
          </a:p>
        </p:txBody>
      </p:sp>
      <p:sp>
        <p:nvSpPr>
          <p:cNvPr id="26" name="Shape 24"/>
          <p:cNvSpPr/>
          <p:nvPr/>
        </p:nvSpPr>
        <p:spPr>
          <a:xfrm>
            <a:off x="4832350" y="3232150"/>
            <a:ext cx="2654300" cy="393700"/>
          </a:xfrm>
          <a:prstGeom prst="roundRect">
            <a:avLst>
              <a:gd name="adj" fmla="val 14516"/>
            </a:avLst>
          </a:prstGeom>
          <a:solidFill>
            <a:srgbClr val="FFFEFB"/>
          </a:solidFill>
          <a:ln w="12700">
            <a:solidFill>
              <a:srgbClr val="E07B39"/>
            </a:solidFill>
            <a:prstDash val="solid"/>
          </a:ln>
        </p:spPr>
        <p:txBody>
          <a:bodyPr/>
          <a:lstStyle/>
          <a:p>
            <a:endParaRPr lang="en-IE"/>
          </a:p>
        </p:txBody>
      </p:sp>
      <p:sp>
        <p:nvSpPr>
          <p:cNvPr id="27" name="Shape 25"/>
          <p:cNvSpPr/>
          <p:nvPr/>
        </p:nvSpPr>
        <p:spPr>
          <a:xfrm>
            <a:off x="4965700" y="3352800"/>
            <a:ext cx="152400" cy="152400"/>
          </a:xfrm>
          <a:prstGeom prst="roundRect">
            <a:avLst>
              <a:gd name="adj" fmla="val 16667"/>
            </a:avLst>
          </a:prstGeom>
          <a:solidFill>
            <a:srgbClr val="2F6FAE"/>
          </a:solidFill>
          <a:ln/>
        </p:spPr>
        <p:txBody>
          <a:bodyPr/>
          <a:lstStyle/>
          <a:p>
            <a:endParaRPr lang="en-IE"/>
          </a:p>
        </p:txBody>
      </p:sp>
      <p:sp>
        <p:nvSpPr>
          <p:cNvPr id="28" name="Text 26"/>
          <p:cNvSpPr/>
          <p:nvPr/>
        </p:nvSpPr>
        <p:spPr>
          <a:xfrm>
            <a:off x="5207000" y="3304530"/>
            <a:ext cx="66681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3</a:t>
            </a:r>
            <a:r>
              <a:rPr lang="en-US" sz="1400" dirty="0">
                <a:solidFill>
                  <a:srgbClr val="0F1B2D"/>
                </a:solidFill>
                <a:latin typeface="IBM Plex Sans" pitchFamily="34" charset="0"/>
                <a:ea typeface="IBM Plex Sans" pitchFamily="34" charset="-122"/>
                <a:cs typeface="IBM Plex Sans" pitchFamily="34" charset="-120"/>
              </a:rPr>
              <a:t> Wind</a:t>
            </a:r>
            <a:endParaRPr lang="en-US" sz="1400" dirty="0"/>
          </a:p>
        </p:txBody>
      </p:sp>
      <p:sp>
        <p:nvSpPr>
          <p:cNvPr id="29" name="Shape 27"/>
          <p:cNvSpPr/>
          <p:nvPr/>
        </p:nvSpPr>
        <p:spPr>
          <a:xfrm>
            <a:off x="4829175" y="3762375"/>
            <a:ext cx="2660650" cy="400050"/>
          </a:xfrm>
          <a:prstGeom prst="roundRect">
            <a:avLst>
              <a:gd name="adj" fmla="val 15079"/>
            </a:avLst>
          </a:prstGeom>
          <a:solidFill>
            <a:srgbClr val="FFFEFB"/>
          </a:solidFill>
          <a:ln w="6350">
            <a:solidFill>
              <a:srgbClr val="DED9CE"/>
            </a:solidFill>
            <a:prstDash val="solid"/>
          </a:ln>
        </p:spPr>
        <p:txBody>
          <a:bodyPr/>
          <a:lstStyle/>
          <a:p>
            <a:endParaRPr lang="en-IE"/>
          </a:p>
        </p:txBody>
      </p:sp>
      <p:sp>
        <p:nvSpPr>
          <p:cNvPr id="30" name="Shape 28"/>
          <p:cNvSpPr/>
          <p:nvPr/>
        </p:nvSpPr>
        <p:spPr>
          <a:xfrm>
            <a:off x="4959350" y="3886200"/>
            <a:ext cx="152400" cy="152400"/>
          </a:xfrm>
          <a:prstGeom prst="roundRect">
            <a:avLst>
              <a:gd name="adj" fmla="val 16667"/>
            </a:avLst>
          </a:prstGeom>
          <a:solidFill>
            <a:srgbClr val="A6927A"/>
          </a:solidFill>
          <a:ln/>
        </p:spPr>
        <p:txBody>
          <a:bodyPr/>
          <a:lstStyle/>
          <a:p>
            <a:endParaRPr lang="en-IE"/>
          </a:p>
        </p:txBody>
      </p:sp>
      <p:sp>
        <p:nvSpPr>
          <p:cNvPr id="31" name="Text 29"/>
          <p:cNvSpPr/>
          <p:nvPr/>
        </p:nvSpPr>
        <p:spPr>
          <a:xfrm>
            <a:off x="5200650" y="3837930"/>
            <a:ext cx="98387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4</a:t>
            </a:r>
            <a:r>
              <a:rPr lang="en-US" sz="1400" dirty="0">
                <a:solidFill>
                  <a:srgbClr val="0F1B2D"/>
                </a:solidFill>
                <a:latin typeface="IBM Plex Sans" pitchFamily="34" charset="0"/>
                <a:ea typeface="IBM Plex Sans" pitchFamily="34" charset="-122"/>
                <a:cs typeface="IBM Plex Sans" pitchFamily="34" charset="-120"/>
              </a:rPr>
              <a:t> Demand</a:t>
            </a:r>
            <a:endParaRPr lang="en-US" sz="1400" dirty="0"/>
          </a:p>
        </p:txBody>
      </p:sp>
      <p:sp>
        <p:nvSpPr>
          <p:cNvPr id="32" name="Shape 30"/>
          <p:cNvSpPr/>
          <p:nvPr/>
        </p:nvSpPr>
        <p:spPr>
          <a:xfrm>
            <a:off x="4829175" y="4295775"/>
            <a:ext cx="2660650" cy="400050"/>
          </a:xfrm>
          <a:prstGeom prst="roundRect">
            <a:avLst>
              <a:gd name="adj" fmla="val 15079"/>
            </a:avLst>
          </a:prstGeom>
          <a:solidFill>
            <a:srgbClr val="FFFEFB"/>
          </a:solidFill>
          <a:ln w="6350">
            <a:solidFill>
              <a:srgbClr val="DED9CE"/>
            </a:solidFill>
            <a:prstDash val="solid"/>
          </a:ln>
        </p:spPr>
        <p:txBody>
          <a:bodyPr/>
          <a:lstStyle/>
          <a:p>
            <a:endParaRPr lang="en-IE"/>
          </a:p>
        </p:txBody>
      </p:sp>
      <p:sp>
        <p:nvSpPr>
          <p:cNvPr id="33" name="Shape 31"/>
          <p:cNvSpPr/>
          <p:nvPr/>
        </p:nvSpPr>
        <p:spPr>
          <a:xfrm>
            <a:off x="4959350" y="4419600"/>
            <a:ext cx="152400" cy="152400"/>
          </a:xfrm>
          <a:prstGeom prst="roundRect">
            <a:avLst>
              <a:gd name="adj" fmla="val 16667"/>
            </a:avLst>
          </a:prstGeom>
          <a:solidFill>
            <a:srgbClr val="8A5AA8"/>
          </a:solidFill>
          <a:ln/>
        </p:spPr>
        <p:txBody>
          <a:bodyPr/>
          <a:lstStyle/>
          <a:p>
            <a:endParaRPr lang="en-IE"/>
          </a:p>
        </p:txBody>
      </p:sp>
      <p:sp>
        <p:nvSpPr>
          <p:cNvPr id="34" name="Text 32"/>
          <p:cNvSpPr/>
          <p:nvPr/>
        </p:nvSpPr>
        <p:spPr>
          <a:xfrm>
            <a:off x="5200650" y="4371330"/>
            <a:ext cx="182064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F98"/>
                </a:solidFill>
                <a:latin typeface="IBM Plex Sans" pitchFamily="34" charset="0"/>
                <a:ea typeface="IBM Plex Sans" pitchFamily="34" charset="-122"/>
                <a:cs typeface="IBM Plex Sans" pitchFamily="34" charset="-120"/>
              </a:rPr>
              <a:t>5</a:t>
            </a:r>
            <a:r>
              <a:rPr lang="en-US" sz="1400" dirty="0">
                <a:solidFill>
                  <a:srgbClr val="0F1B2D"/>
                </a:solidFill>
                <a:latin typeface="IBM Plex Sans" pitchFamily="34" charset="0"/>
                <a:ea typeface="IBM Plex Sans" pitchFamily="34" charset="-122"/>
                <a:cs typeface="IBM Plex Sans" pitchFamily="34" charset="-120"/>
              </a:rPr>
              <a:t> Last week's price</a:t>
            </a:r>
            <a:endParaRPr lang="en-US" sz="1400" dirty="0"/>
          </a:p>
        </p:txBody>
      </p:sp>
      <p:pic>
        <p:nvPicPr>
          <p:cNvPr id="35" name="Image 0" descr="connector"/>
          <p:cNvPicPr>
            <a:picLocks noChangeAspect="1"/>
          </p:cNvPicPr>
          <p:nvPr/>
        </p:nvPicPr>
        <p:blipFill>
          <a:blip r:embed="rId3"/>
          <a:srcRect/>
          <a:stretch/>
        </p:blipFill>
        <p:spPr>
          <a:xfrm>
            <a:off x="3467100" y="2298700"/>
            <a:ext cx="1371600" cy="1193800"/>
          </a:xfrm>
          <a:prstGeom prst="rect">
            <a:avLst/>
          </a:prstGeom>
        </p:spPr>
      </p:pic>
      <p:pic>
        <p:nvPicPr>
          <p:cNvPr id="36" name="Image 1" descr="connector"/>
          <p:cNvPicPr>
            <a:picLocks noChangeAspect="1"/>
          </p:cNvPicPr>
          <p:nvPr/>
        </p:nvPicPr>
        <p:blipFill>
          <a:blip r:embed="rId4"/>
          <a:srcRect/>
          <a:stretch/>
        </p:blipFill>
        <p:spPr>
          <a:xfrm>
            <a:off x="3479800" y="2844800"/>
            <a:ext cx="1346200" cy="101600"/>
          </a:xfrm>
          <a:prstGeom prst="rect">
            <a:avLst/>
          </a:prstGeom>
        </p:spPr>
      </p:pic>
      <p:pic>
        <p:nvPicPr>
          <p:cNvPr id="37" name="Image 2" descr="connector"/>
          <p:cNvPicPr>
            <a:picLocks noChangeAspect="1"/>
          </p:cNvPicPr>
          <p:nvPr/>
        </p:nvPicPr>
        <p:blipFill>
          <a:blip r:embed="rId5"/>
          <a:srcRect/>
          <a:stretch/>
        </p:blipFill>
        <p:spPr>
          <a:xfrm>
            <a:off x="3467100" y="2298700"/>
            <a:ext cx="1371600" cy="1193800"/>
          </a:xfrm>
          <a:prstGeom prst="rect">
            <a:avLst/>
          </a:prstGeom>
        </p:spPr>
      </p:pic>
      <p:pic>
        <p:nvPicPr>
          <p:cNvPr id="38" name="Image 3" descr="connector"/>
          <p:cNvPicPr>
            <a:picLocks noChangeAspect="1"/>
          </p:cNvPicPr>
          <p:nvPr/>
        </p:nvPicPr>
        <p:blipFill>
          <a:blip r:embed="rId4"/>
          <a:srcRect/>
          <a:stretch/>
        </p:blipFill>
        <p:spPr>
          <a:xfrm>
            <a:off x="3479800" y="3911600"/>
            <a:ext cx="1346200" cy="101600"/>
          </a:xfrm>
          <a:prstGeom prst="rect">
            <a:avLst/>
          </a:prstGeom>
        </p:spPr>
      </p:pic>
      <p:pic>
        <p:nvPicPr>
          <p:cNvPr id="39" name="Image 4" descr="connector"/>
          <p:cNvPicPr>
            <a:picLocks noChangeAspect="1"/>
          </p:cNvPicPr>
          <p:nvPr/>
        </p:nvPicPr>
        <p:blipFill>
          <a:blip r:embed="rId4"/>
          <a:srcRect/>
          <a:stretch/>
        </p:blipFill>
        <p:spPr>
          <a:xfrm>
            <a:off x="3479800" y="4445000"/>
            <a:ext cx="1346200" cy="101600"/>
          </a:xfrm>
          <a:prstGeom prst="rect">
            <a:avLst/>
          </a:prstGeom>
        </p:spPr>
      </p:pic>
      <p:sp>
        <p:nvSpPr>
          <p:cNvPr id="40" name="Text 33"/>
          <p:cNvSpPr/>
          <p:nvPr/>
        </p:nvSpPr>
        <p:spPr>
          <a:xfrm>
            <a:off x="812800" y="4927600"/>
            <a:ext cx="6880606"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85A1E"/>
                </a:solidFill>
                <a:latin typeface="IBM Plex Sans" pitchFamily="34" charset="0"/>
                <a:ea typeface="IBM Plex Sans" pitchFamily="34" charset="-122"/>
                <a:cs typeface="IBM Plex Sans" pitchFamily="34" charset="-120"/>
              </a:rPr>
              <a:t>Wind and solar swap places at the top.</a:t>
            </a:r>
            <a:r>
              <a:rPr lang="en-US" sz="1400" dirty="0">
                <a:solidFill>
                  <a:srgbClr val="4A5568"/>
                </a:solidFill>
                <a:latin typeface="IBM Plex Sans" pitchFamily="34" charset="0"/>
                <a:ea typeface="IBM Plex Sans" pitchFamily="34" charset="-122"/>
                <a:cs typeface="IBM Plex Sans" pitchFamily="34" charset="-120"/>
              </a:rPr>
              <a:t> That's summer, not the shock, and it pulls tau down to 0.72.</a:t>
            </a:r>
            <a:endParaRPr lang="en-US" sz="1400" dirty="0"/>
          </a:p>
        </p:txBody>
      </p:sp>
      <p:sp>
        <p:nvSpPr>
          <p:cNvPr id="41" name="Shape 34"/>
          <p:cNvSpPr/>
          <p:nvPr/>
        </p:nvSpPr>
        <p:spPr>
          <a:xfrm>
            <a:off x="7848600" y="1841500"/>
            <a:ext cx="3530600" cy="1346200"/>
          </a:xfrm>
          <a:prstGeom prst="roundRect">
            <a:avLst>
              <a:gd name="adj" fmla="val 6604"/>
            </a:avLst>
          </a:prstGeom>
          <a:solidFill>
            <a:srgbClr val="0F1B2D"/>
          </a:solidFill>
          <a:ln/>
        </p:spPr>
        <p:txBody>
          <a:bodyPr/>
          <a:lstStyle/>
          <a:p>
            <a:endParaRPr lang="en-IE"/>
          </a:p>
        </p:txBody>
      </p:sp>
      <p:pic>
        <p:nvPicPr>
          <p:cNvPr id="42" name="Image 5" descr="Chart"/>
          <p:cNvPicPr>
            <a:picLocks noChangeAspect="1"/>
          </p:cNvPicPr>
          <p:nvPr/>
        </p:nvPicPr>
        <p:blipFill>
          <a:blip r:embed="rId6"/>
          <a:srcRect/>
          <a:stretch/>
        </p:blipFill>
        <p:spPr>
          <a:xfrm>
            <a:off x="8051800" y="2012603"/>
            <a:ext cx="203200" cy="203200"/>
          </a:xfrm>
          <a:prstGeom prst="rect">
            <a:avLst/>
          </a:prstGeom>
        </p:spPr>
      </p:pic>
      <p:sp>
        <p:nvSpPr>
          <p:cNvPr id="43" name="Text 35"/>
          <p:cNvSpPr/>
          <p:nvPr/>
        </p:nvSpPr>
        <p:spPr>
          <a:xfrm>
            <a:off x="8331200" y="2007543"/>
            <a:ext cx="101107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07B39"/>
                </a:solidFill>
                <a:latin typeface="IBM Plex Sans" pitchFamily="34" charset="0"/>
                <a:ea typeface="IBM Plex Sans" pitchFamily="34" charset="-122"/>
                <a:cs typeface="IBM Plex Sans" pitchFamily="34" charset="-120"/>
              </a:rPr>
              <a:t>MEASURE</a:t>
            </a:r>
            <a:endParaRPr lang="en-US" sz="1200" dirty="0"/>
          </a:p>
        </p:txBody>
      </p:sp>
      <p:sp>
        <p:nvSpPr>
          <p:cNvPr id="44" name="Text 36"/>
          <p:cNvSpPr/>
          <p:nvPr/>
        </p:nvSpPr>
        <p:spPr>
          <a:xfrm>
            <a:off x="8051800" y="2298005"/>
            <a:ext cx="3217926" cy="737295"/>
          </a:xfrm>
          <a:prstGeom prst="rect">
            <a:avLst/>
          </a:prstGeom>
          <a:noFill/>
          <a:ln/>
        </p:spPr>
        <p:txBody>
          <a:bodyPr wrap="square" lIns="0" tIns="0" rIns="0" bIns="0" rtlCol="0" anchor="t">
            <a:normAutofit/>
          </a:bodyPr>
          <a:lstStyle/>
          <a:p>
            <a:pPr marL="0" indent="0" algn="l">
              <a:lnSpc>
                <a:spcPts val="1903"/>
              </a:lnSpc>
              <a:buNone/>
            </a:pPr>
            <a:r>
              <a:rPr lang="en-US" sz="1359" b="1" dirty="0">
                <a:solidFill>
                  <a:srgbClr val="F5F3EE"/>
                </a:solidFill>
                <a:latin typeface="IBM Plex Sans" pitchFamily="34" charset="0"/>
                <a:ea typeface="IBM Plex Sans" pitchFamily="34" charset="-122"/>
                <a:cs typeface="IBM Plex Sans" pitchFamily="34" charset="-120"/>
              </a:rPr>
              <a:t>Weighted Kendall's tau:</a:t>
            </a:r>
            <a:r>
              <a:rPr lang="en-US" sz="1359" dirty="0">
                <a:solidFill>
                  <a:srgbClr val="C3CEDB"/>
                </a:solidFill>
                <a:latin typeface="IBM Plex Sans" pitchFamily="34" charset="0"/>
                <a:ea typeface="IBM Plex Sans" pitchFamily="34" charset="-122"/>
                <a:cs typeface="IBM Plex Sans" pitchFamily="34" charset="-120"/>
              </a:rPr>
              <a:t> 1 = identical ranking. Swaps near the top count more.</a:t>
            </a:r>
            <a:endParaRPr lang="en-US" sz="1359" dirty="0"/>
          </a:p>
        </p:txBody>
      </p:sp>
      <p:sp>
        <p:nvSpPr>
          <p:cNvPr id="45" name="Shape 37"/>
          <p:cNvSpPr/>
          <p:nvPr/>
        </p:nvSpPr>
        <p:spPr>
          <a:xfrm>
            <a:off x="7851775" y="3343275"/>
            <a:ext cx="3524250" cy="1352550"/>
          </a:xfrm>
          <a:prstGeom prst="roundRect">
            <a:avLst>
              <a:gd name="adj" fmla="val 6338"/>
            </a:avLst>
          </a:prstGeom>
          <a:solidFill>
            <a:srgbClr val="FFFEFB"/>
          </a:solidFill>
          <a:ln w="6350">
            <a:solidFill>
              <a:srgbClr val="DED9CE"/>
            </a:solidFill>
            <a:prstDash val="solid"/>
          </a:ln>
        </p:spPr>
        <p:txBody>
          <a:bodyPr/>
          <a:lstStyle/>
          <a:p>
            <a:endParaRPr lang="en-IE"/>
          </a:p>
        </p:txBody>
      </p:sp>
      <p:pic>
        <p:nvPicPr>
          <p:cNvPr id="46" name="Image 6" descr="Lightning"/>
          <p:cNvPicPr>
            <a:picLocks noChangeAspect="1"/>
          </p:cNvPicPr>
          <p:nvPr/>
        </p:nvPicPr>
        <p:blipFill>
          <a:blip r:embed="rId7"/>
          <a:srcRect/>
          <a:stretch/>
        </p:blipFill>
        <p:spPr>
          <a:xfrm>
            <a:off x="8058150" y="3517553"/>
            <a:ext cx="203200" cy="203200"/>
          </a:xfrm>
          <a:prstGeom prst="rect">
            <a:avLst/>
          </a:prstGeom>
        </p:spPr>
      </p:pic>
      <p:sp>
        <p:nvSpPr>
          <p:cNvPr id="47" name="Text 38"/>
          <p:cNvSpPr/>
          <p:nvPr/>
        </p:nvSpPr>
        <p:spPr>
          <a:xfrm>
            <a:off x="8337550" y="3512493"/>
            <a:ext cx="104453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A1E"/>
                </a:solidFill>
                <a:latin typeface="IBM Plex Sans" pitchFamily="34" charset="0"/>
                <a:ea typeface="IBM Plex Sans" pitchFamily="34" charset="-122"/>
                <a:cs typeface="IBM Plex Sans" pitchFamily="34" charset="-120"/>
              </a:rPr>
              <a:t>WARNING</a:t>
            </a:r>
            <a:endParaRPr lang="en-US" sz="1200" dirty="0"/>
          </a:p>
        </p:txBody>
      </p:sp>
      <p:sp>
        <p:nvSpPr>
          <p:cNvPr id="48" name="Text 39"/>
          <p:cNvSpPr/>
          <p:nvPr/>
        </p:nvSpPr>
        <p:spPr>
          <a:xfrm>
            <a:off x="8058150" y="3802955"/>
            <a:ext cx="3204845" cy="737295"/>
          </a:xfrm>
          <a:prstGeom prst="rect">
            <a:avLst/>
          </a:prstGeom>
          <a:noFill/>
          <a:ln/>
        </p:spPr>
        <p:txBody>
          <a:bodyPr wrap="square" lIns="0" tIns="0" rIns="0" bIns="0" rtlCol="0" anchor="t">
            <a:normAutofit/>
          </a:bodyPr>
          <a:lstStyle/>
          <a:p>
            <a:pPr marL="0" indent="0" algn="l">
              <a:lnSpc>
                <a:spcPts val="1870"/>
              </a:lnSpc>
              <a:buNone/>
            </a:pPr>
            <a:r>
              <a:rPr lang="en-US" sz="1336" b="1" dirty="0">
                <a:solidFill>
                  <a:srgbClr val="0F1B2D"/>
                </a:solidFill>
                <a:latin typeface="IBM Plex Sans" pitchFamily="34" charset="0"/>
                <a:ea typeface="IBM Plex Sans" pitchFamily="34" charset="-122"/>
                <a:cs typeface="IBM Plex Sans" pitchFamily="34" charset="-120"/>
              </a:rPr>
              <a:t>Line at 0.66:</a:t>
            </a:r>
            <a:r>
              <a:rPr lang="en-US" sz="1336" dirty="0">
                <a:solidFill>
                  <a:srgbClr val="4A5568"/>
                </a:solidFill>
                <a:latin typeface="IBM Plex Sans" pitchFamily="34" charset="0"/>
                <a:ea typeface="IBM Plex Sans" pitchFamily="34" charset="-122"/>
                <a:cs typeface="IBM Plex Sans" pitchFamily="34" charset="-120"/>
              </a:rPr>
              <a:t> 2 SD below tau's pre-crisis normal. June scores 0.72, so no warning.</a:t>
            </a:r>
            <a:endParaRPr lang="en-US" sz="1336" dirty="0"/>
          </a:p>
        </p:txBody>
      </p:sp>
      <p:sp>
        <p:nvSpPr>
          <p:cNvPr id="49" name="Text 4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Example: the blind model's real fortnight from 6 June 2026. Baseline: 8 pre-crisis fortnights. Vigna 2015 (weighted tau).</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8502650"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The reasoning follows the calendar, not the shock</a:t>
            </a:r>
            <a:endParaRPr lang="en-US" sz="3600" dirty="0"/>
          </a:p>
        </p:txBody>
      </p:sp>
      <p:sp>
        <p:nvSpPr>
          <p:cNvPr id="3" name="Text 1"/>
          <p:cNvSpPr/>
          <p:nvPr/>
        </p:nvSpPr>
        <p:spPr>
          <a:xfrm>
            <a:off x="812800" y="189478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Blind model. Each column is one fortnight: its top three inputs, and its forecast error.</a:t>
            </a:r>
            <a:endParaRPr lang="en-US" sz="1500" dirty="0"/>
          </a:p>
        </p:txBody>
      </p:sp>
      <p:sp>
        <p:nvSpPr>
          <p:cNvPr id="4" name="Text 2"/>
          <p:cNvSpPr/>
          <p:nvPr/>
        </p:nvSpPr>
        <p:spPr>
          <a:xfrm>
            <a:off x="812800" y="2362200"/>
            <a:ext cx="1021556"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Top inputs:</a:t>
            </a:r>
            <a:endParaRPr lang="en-US" sz="1300" dirty="0"/>
          </a:p>
        </p:txBody>
      </p:sp>
      <p:sp>
        <p:nvSpPr>
          <p:cNvPr id="5" name="Shape 3"/>
          <p:cNvSpPr/>
          <p:nvPr/>
        </p:nvSpPr>
        <p:spPr>
          <a:xfrm>
            <a:off x="1841897" y="2388840"/>
            <a:ext cx="279400" cy="177800"/>
          </a:xfrm>
          <a:prstGeom prst="roundRect">
            <a:avLst>
              <a:gd name="adj" fmla="val 14286"/>
            </a:avLst>
          </a:prstGeom>
          <a:solidFill>
            <a:srgbClr val="2F6FAE"/>
          </a:solidFill>
          <a:ln/>
        </p:spPr>
        <p:txBody>
          <a:bodyPr/>
          <a:lstStyle/>
          <a:p>
            <a:endParaRPr lang="en-IE"/>
          </a:p>
        </p:txBody>
      </p:sp>
      <p:sp>
        <p:nvSpPr>
          <p:cNvPr id="6" name="Text 4"/>
          <p:cNvSpPr/>
          <p:nvPr/>
        </p:nvSpPr>
        <p:spPr>
          <a:xfrm>
            <a:off x="2184797" y="2362200"/>
            <a:ext cx="45350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BM Plex Sans" pitchFamily="34" charset="0"/>
                <a:ea typeface="IBM Plex Sans" pitchFamily="34" charset="-122"/>
                <a:cs typeface="IBM Plex Sans" pitchFamily="34" charset="-120"/>
              </a:rPr>
              <a:t>Wind</a:t>
            </a:r>
            <a:endParaRPr lang="en-US" sz="1300" dirty="0"/>
          </a:p>
        </p:txBody>
      </p:sp>
      <p:sp>
        <p:nvSpPr>
          <p:cNvPr id="7" name="Shape 5"/>
          <p:cNvSpPr/>
          <p:nvPr/>
        </p:nvSpPr>
        <p:spPr>
          <a:xfrm>
            <a:off x="2740521" y="2388840"/>
            <a:ext cx="279400" cy="177800"/>
          </a:xfrm>
          <a:prstGeom prst="roundRect">
            <a:avLst>
              <a:gd name="adj" fmla="val 14286"/>
            </a:avLst>
          </a:prstGeom>
          <a:solidFill>
            <a:srgbClr val="E3A82B"/>
          </a:solidFill>
          <a:ln/>
        </p:spPr>
        <p:txBody>
          <a:bodyPr/>
          <a:lstStyle/>
          <a:p>
            <a:endParaRPr lang="en-IE"/>
          </a:p>
        </p:txBody>
      </p:sp>
      <p:sp>
        <p:nvSpPr>
          <p:cNvPr id="8" name="Text 6"/>
          <p:cNvSpPr/>
          <p:nvPr/>
        </p:nvSpPr>
        <p:spPr>
          <a:xfrm>
            <a:off x="3083421" y="2362200"/>
            <a:ext cx="45845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BM Plex Sans" pitchFamily="34" charset="0"/>
                <a:ea typeface="IBM Plex Sans" pitchFamily="34" charset="-122"/>
                <a:cs typeface="IBM Plex Sans" pitchFamily="34" charset="-120"/>
              </a:rPr>
              <a:t>Solar</a:t>
            </a:r>
            <a:endParaRPr lang="en-US" sz="1300" dirty="0"/>
          </a:p>
        </p:txBody>
      </p:sp>
      <p:sp>
        <p:nvSpPr>
          <p:cNvPr id="9" name="Shape 7"/>
          <p:cNvSpPr/>
          <p:nvPr/>
        </p:nvSpPr>
        <p:spPr>
          <a:xfrm>
            <a:off x="3643263" y="2388840"/>
            <a:ext cx="279400" cy="177800"/>
          </a:xfrm>
          <a:prstGeom prst="roundRect">
            <a:avLst>
              <a:gd name="adj" fmla="val 14286"/>
            </a:avLst>
          </a:prstGeom>
          <a:solidFill>
            <a:srgbClr val="14524A"/>
          </a:solidFill>
          <a:ln/>
        </p:spPr>
        <p:txBody>
          <a:bodyPr/>
          <a:lstStyle/>
          <a:p>
            <a:endParaRPr lang="en-IE"/>
          </a:p>
        </p:txBody>
      </p:sp>
      <p:sp>
        <p:nvSpPr>
          <p:cNvPr id="10" name="Text 8"/>
          <p:cNvSpPr/>
          <p:nvPr/>
        </p:nvSpPr>
        <p:spPr>
          <a:xfrm>
            <a:off x="3986163" y="2362200"/>
            <a:ext cx="144333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BM Plex Sans" pitchFamily="34" charset="0"/>
                <a:ea typeface="IBM Plex Sans" pitchFamily="34" charset="-122"/>
                <a:cs typeface="IBM Plex Sans" pitchFamily="34" charset="-120"/>
              </a:rPr>
              <a:t>Yesterday's price</a:t>
            </a:r>
            <a:endParaRPr lang="en-US" sz="1300" dirty="0"/>
          </a:p>
        </p:txBody>
      </p:sp>
      <p:sp>
        <p:nvSpPr>
          <p:cNvPr id="11" name="Shape 9"/>
          <p:cNvSpPr/>
          <p:nvPr/>
        </p:nvSpPr>
        <p:spPr>
          <a:xfrm>
            <a:off x="5429498" y="2388840"/>
            <a:ext cx="279400" cy="177800"/>
          </a:xfrm>
          <a:prstGeom prst="roundRect">
            <a:avLst>
              <a:gd name="adj" fmla="val 14286"/>
            </a:avLst>
          </a:prstGeom>
          <a:solidFill>
            <a:srgbClr val="A6927A"/>
          </a:solidFill>
          <a:ln/>
        </p:spPr>
        <p:txBody>
          <a:bodyPr/>
          <a:lstStyle/>
          <a:p>
            <a:endParaRPr lang="en-IE"/>
          </a:p>
        </p:txBody>
      </p:sp>
      <p:sp>
        <p:nvSpPr>
          <p:cNvPr id="12" name="Text 10"/>
          <p:cNvSpPr/>
          <p:nvPr/>
        </p:nvSpPr>
        <p:spPr>
          <a:xfrm>
            <a:off x="5772398" y="2362200"/>
            <a:ext cx="747951"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BM Plex Sans" pitchFamily="34" charset="0"/>
                <a:ea typeface="IBM Plex Sans" pitchFamily="34" charset="-122"/>
                <a:cs typeface="IBM Plex Sans" pitchFamily="34" charset="-120"/>
              </a:rPr>
              <a:t>Demand</a:t>
            </a:r>
            <a:endParaRPr lang="en-US" sz="1300" dirty="0"/>
          </a:p>
        </p:txBody>
      </p:sp>
      <p:sp>
        <p:nvSpPr>
          <p:cNvPr id="13" name="Shape 11"/>
          <p:cNvSpPr/>
          <p:nvPr/>
        </p:nvSpPr>
        <p:spPr>
          <a:xfrm>
            <a:off x="6573490" y="2388840"/>
            <a:ext cx="279400" cy="177800"/>
          </a:xfrm>
          <a:prstGeom prst="roundRect">
            <a:avLst>
              <a:gd name="adj" fmla="val 14286"/>
            </a:avLst>
          </a:prstGeom>
          <a:solidFill>
            <a:srgbClr val="8A5AA8"/>
          </a:solidFill>
          <a:ln/>
        </p:spPr>
        <p:txBody>
          <a:bodyPr/>
          <a:lstStyle/>
          <a:p>
            <a:endParaRPr lang="en-IE"/>
          </a:p>
        </p:txBody>
      </p:sp>
      <p:sp>
        <p:nvSpPr>
          <p:cNvPr id="14" name="Text 12"/>
          <p:cNvSpPr/>
          <p:nvPr/>
        </p:nvSpPr>
        <p:spPr>
          <a:xfrm>
            <a:off x="6916390" y="2362200"/>
            <a:ext cx="152495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BM Plex Sans" pitchFamily="34" charset="0"/>
                <a:ea typeface="IBM Plex Sans" pitchFamily="34" charset="-122"/>
                <a:cs typeface="IBM Plex Sans" pitchFamily="34" charset="-120"/>
              </a:rPr>
              <a:t>Last week's price</a:t>
            </a:r>
            <a:endParaRPr lang="en-US" sz="1300" dirty="0"/>
          </a:p>
        </p:txBody>
      </p:sp>
      <p:pic>
        <p:nvPicPr>
          <p:cNvPr id="15" name="Image 0" descr="For each fortnight from November 2025 to September 2026, the blind model's top three inputs and its forecast error. Wind leads through winter, solar takes over in spring, yesterday's price leads by late summer. Nothing changes at the 28 February oil shock. Error bars turn orange, meaning unusual, from 20 June."/>
          <p:cNvPicPr>
            <a:picLocks noChangeAspect="1"/>
          </p:cNvPicPr>
          <p:nvPr/>
        </p:nvPicPr>
        <p:blipFill>
          <a:blip r:embed="rId3"/>
          <a:srcRect t="-23" b="-23"/>
          <a:stretch/>
        </p:blipFill>
        <p:spPr>
          <a:xfrm>
            <a:off x="2540000" y="2921000"/>
            <a:ext cx="8839200" cy="2159000"/>
          </a:xfrm>
          <a:prstGeom prst="rect">
            <a:avLst/>
          </a:prstGeom>
        </p:spPr>
      </p:pic>
      <p:sp>
        <p:nvSpPr>
          <p:cNvPr id="16" name="Text 13"/>
          <p:cNvSpPr/>
          <p:nvPr/>
        </p:nvSpPr>
        <p:spPr>
          <a:xfrm>
            <a:off x="5676900" y="2667000"/>
            <a:ext cx="209296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5A1E"/>
                </a:solidFill>
                <a:latin typeface="IBM Plex Sans" pitchFamily="34" charset="0"/>
                <a:ea typeface="IBM Plex Sans" pitchFamily="34" charset="-122"/>
                <a:cs typeface="IBM Plex Sans" pitchFamily="34" charset="-120"/>
              </a:rPr>
              <a:t>Oil shock, 28 Feb</a:t>
            </a:r>
            <a:endParaRPr lang="en-US" sz="1300" dirty="0"/>
          </a:p>
        </p:txBody>
      </p:sp>
      <p:sp>
        <p:nvSpPr>
          <p:cNvPr id="17" name="Text 14"/>
          <p:cNvSpPr/>
          <p:nvPr/>
        </p:nvSpPr>
        <p:spPr>
          <a:xfrm>
            <a:off x="762000" y="2933700"/>
            <a:ext cx="16383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A5568"/>
                </a:solidFill>
                <a:latin typeface="IBM Plex Sans" pitchFamily="34" charset="0"/>
                <a:ea typeface="IBM Plex Sans" pitchFamily="34" charset="-122"/>
                <a:cs typeface="IBM Plex Sans" pitchFamily="34" charset="-120"/>
              </a:rPr>
              <a:t>1st</a:t>
            </a:r>
            <a:endParaRPr lang="en-US" sz="1300" dirty="0"/>
          </a:p>
        </p:txBody>
      </p:sp>
      <p:sp>
        <p:nvSpPr>
          <p:cNvPr id="18" name="Text 15"/>
          <p:cNvSpPr/>
          <p:nvPr/>
        </p:nvSpPr>
        <p:spPr>
          <a:xfrm>
            <a:off x="762000" y="3213100"/>
            <a:ext cx="16383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A5568"/>
                </a:solidFill>
                <a:latin typeface="IBM Plex Sans" pitchFamily="34" charset="0"/>
                <a:ea typeface="IBM Plex Sans" pitchFamily="34" charset="-122"/>
                <a:cs typeface="IBM Plex Sans" pitchFamily="34" charset="-120"/>
              </a:rPr>
              <a:t>2nd</a:t>
            </a:r>
            <a:endParaRPr lang="en-US" sz="1300" dirty="0"/>
          </a:p>
        </p:txBody>
      </p:sp>
      <p:sp>
        <p:nvSpPr>
          <p:cNvPr id="19" name="Text 16"/>
          <p:cNvSpPr/>
          <p:nvPr/>
        </p:nvSpPr>
        <p:spPr>
          <a:xfrm>
            <a:off x="762000" y="3492500"/>
            <a:ext cx="16383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A5568"/>
                </a:solidFill>
                <a:latin typeface="IBM Plex Sans" pitchFamily="34" charset="0"/>
                <a:ea typeface="IBM Plex Sans" pitchFamily="34" charset="-122"/>
                <a:cs typeface="IBM Plex Sans" pitchFamily="34" charset="-120"/>
              </a:rPr>
              <a:t>3rd most used</a:t>
            </a:r>
            <a:endParaRPr lang="en-US" sz="1300" dirty="0"/>
          </a:p>
        </p:txBody>
      </p:sp>
      <p:sp>
        <p:nvSpPr>
          <p:cNvPr id="20" name="Text 17"/>
          <p:cNvSpPr/>
          <p:nvPr/>
        </p:nvSpPr>
        <p:spPr>
          <a:xfrm>
            <a:off x="762000" y="4381500"/>
            <a:ext cx="1638300" cy="454620"/>
          </a:xfrm>
          <a:prstGeom prst="rect">
            <a:avLst/>
          </a:prstGeom>
          <a:noFill/>
          <a:ln/>
        </p:spPr>
        <p:txBody>
          <a:bodyPr wrap="square" lIns="0" tIns="0" rIns="0" bIns="0" rtlCol="0" anchor="t">
            <a:normAutofit/>
          </a:bodyPr>
          <a:lstStyle/>
          <a:p>
            <a:pPr marL="0" indent="0" algn="r">
              <a:lnSpc>
                <a:spcPts val="1690"/>
              </a:lnSpc>
              <a:buNone/>
            </a:pPr>
            <a:r>
              <a:rPr lang="en-US" sz="1300" dirty="0">
                <a:solidFill>
                  <a:srgbClr val="4A5568"/>
                </a:solidFill>
                <a:latin typeface="IBM Plex Sans" pitchFamily="34" charset="0"/>
                <a:ea typeface="IBM Plex Sans" pitchFamily="34" charset="-122"/>
                <a:cs typeface="IBM Plex Sans" pitchFamily="34" charset="-120"/>
              </a:rPr>
              <a:t>Forecast error</a:t>
            </a:r>
            <a:endParaRPr lang="en-US" sz="1300" dirty="0"/>
          </a:p>
          <a:p>
            <a:pPr marL="0" indent="0" algn="r">
              <a:lnSpc>
                <a:spcPts val="1690"/>
              </a:lnSpc>
              <a:buNone/>
            </a:pPr>
            <a:r>
              <a:rPr lang="en-US" sz="1300" dirty="0">
                <a:solidFill>
                  <a:srgbClr val="4A5568"/>
                </a:solidFill>
                <a:latin typeface="IBM Plex Sans" pitchFamily="34" charset="0"/>
                <a:ea typeface="IBM Plex Sans" pitchFamily="34" charset="-122"/>
                <a:cs typeface="IBM Plex Sans" pitchFamily="34" charset="-120"/>
              </a:rPr>
              <a:t>€/MWh</a:t>
            </a:r>
            <a:endParaRPr lang="en-US" sz="1300" dirty="0"/>
          </a:p>
        </p:txBody>
      </p:sp>
      <p:sp>
        <p:nvSpPr>
          <p:cNvPr id="21" name="Text 18"/>
          <p:cNvSpPr/>
          <p:nvPr/>
        </p:nvSpPr>
        <p:spPr>
          <a:xfrm>
            <a:off x="2603500" y="4235450"/>
            <a:ext cx="24853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621F"/>
                </a:solidFill>
                <a:latin typeface="IBM Plex Sans" pitchFamily="34" charset="0"/>
                <a:ea typeface="IBM Plex Sans" pitchFamily="34" charset="-122"/>
                <a:cs typeface="IBM Plex Sans" pitchFamily="34" charset="-120"/>
              </a:rPr>
              <a:t>normal range ends here</a:t>
            </a:r>
            <a:endParaRPr lang="en-US" sz="1200" dirty="0"/>
          </a:p>
        </p:txBody>
      </p:sp>
      <p:sp>
        <p:nvSpPr>
          <p:cNvPr id="22" name="Text 19"/>
          <p:cNvSpPr/>
          <p:nvPr/>
        </p:nvSpPr>
        <p:spPr>
          <a:xfrm>
            <a:off x="7493000" y="3810000"/>
            <a:ext cx="24853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9621F"/>
                </a:solidFill>
                <a:latin typeface="IBM Plex Sans" pitchFamily="34" charset="0"/>
                <a:ea typeface="IBM Plex Sans" pitchFamily="34" charset="-122"/>
                <a:cs typeface="IBM Plex Sans" pitchFamily="34" charset="-120"/>
              </a:rPr>
              <a:t>Error unusual from 20 Jun</a:t>
            </a:r>
            <a:endParaRPr lang="en-US" sz="1300" dirty="0"/>
          </a:p>
        </p:txBody>
      </p:sp>
      <p:sp>
        <p:nvSpPr>
          <p:cNvPr id="23" name="Text 20"/>
          <p:cNvSpPr/>
          <p:nvPr/>
        </p:nvSpPr>
        <p:spPr>
          <a:xfrm>
            <a:off x="2540000" y="5156200"/>
            <a:ext cx="819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Nov</a:t>
            </a:r>
            <a:endParaRPr lang="en-US" sz="1200" dirty="0"/>
          </a:p>
        </p:txBody>
      </p:sp>
      <p:sp>
        <p:nvSpPr>
          <p:cNvPr id="24" name="Text 21"/>
          <p:cNvSpPr/>
          <p:nvPr/>
        </p:nvSpPr>
        <p:spPr>
          <a:xfrm>
            <a:off x="3308350" y="5156200"/>
            <a:ext cx="819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Dec</a:t>
            </a:r>
            <a:endParaRPr lang="en-US" sz="1200" dirty="0"/>
          </a:p>
        </p:txBody>
      </p:sp>
      <p:sp>
        <p:nvSpPr>
          <p:cNvPr id="25" name="Text 22"/>
          <p:cNvSpPr/>
          <p:nvPr/>
        </p:nvSpPr>
        <p:spPr>
          <a:xfrm>
            <a:off x="4076700" y="5156200"/>
            <a:ext cx="1206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Jan</a:t>
            </a:r>
            <a:endParaRPr lang="en-US" sz="1200" dirty="0"/>
          </a:p>
        </p:txBody>
      </p:sp>
      <p:sp>
        <p:nvSpPr>
          <p:cNvPr id="26" name="Text 23"/>
          <p:cNvSpPr/>
          <p:nvPr/>
        </p:nvSpPr>
        <p:spPr>
          <a:xfrm>
            <a:off x="5232400" y="5156200"/>
            <a:ext cx="819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Feb</a:t>
            </a:r>
            <a:endParaRPr lang="en-US" sz="1200" dirty="0"/>
          </a:p>
        </p:txBody>
      </p:sp>
      <p:sp>
        <p:nvSpPr>
          <p:cNvPr id="27" name="Text 24"/>
          <p:cNvSpPr/>
          <p:nvPr/>
        </p:nvSpPr>
        <p:spPr>
          <a:xfrm>
            <a:off x="6000750" y="5156200"/>
            <a:ext cx="819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Mar</a:t>
            </a:r>
            <a:endParaRPr lang="en-US" sz="1200" dirty="0"/>
          </a:p>
        </p:txBody>
      </p:sp>
      <p:sp>
        <p:nvSpPr>
          <p:cNvPr id="28" name="Text 25"/>
          <p:cNvSpPr/>
          <p:nvPr/>
        </p:nvSpPr>
        <p:spPr>
          <a:xfrm>
            <a:off x="6769100" y="5156200"/>
            <a:ext cx="819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Apr</a:t>
            </a:r>
            <a:endParaRPr lang="en-US" sz="1200" dirty="0"/>
          </a:p>
        </p:txBody>
      </p:sp>
      <p:sp>
        <p:nvSpPr>
          <p:cNvPr id="29" name="Text 26"/>
          <p:cNvSpPr/>
          <p:nvPr/>
        </p:nvSpPr>
        <p:spPr>
          <a:xfrm>
            <a:off x="7537450" y="5156200"/>
            <a:ext cx="819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May</a:t>
            </a:r>
            <a:endParaRPr lang="en-US" sz="1200" dirty="0"/>
          </a:p>
        </p:txBody>
      </p:sp>
      <p:sp>
        <p:nvSpPr>
          <p:cNvPr id="30" name="Text 27"/>
          <p:cNvSpPr/>
          <p:nvPr/>
        </p:nvSpPr>
        <p:spPr>
          <a:xfrm>
            <a:off x="8305800" y="5156200"/>
            <a:ext cx="819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Jun</a:t>
            </a:r>
            <a:endParaRPr lang="en-US" sz="1200" dirty="0"/>
          </a:p>
        </p:txBody>
      </p:sp>
      <p:sp>
        <p:nvSpPr>
          <p:cNvPr id="31" name="Text 28"/>
          <p:cNvSpPr/>
          <p:nvPr/>
        </p:nvSpPr>
        <p:spPr>
          <a:xfrm>
            <a:off x="9074150" y="5156200"/>
            <a:ext cx="819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Jul</a:t>
            </a:r>
            <a:endParaRPr lang="en-US" sz="1200" dirty="0"/>
          </a:p>
        </p:txBody>
      </p:sp>
      <p:sp>
        <p:nvSpPr>
          <p:cNvPr id="32" name="Text 29"/>
          <p:cNvSpPr/>
          <p:nvPr/>
        </p:nvSpPr>
        <p:spPr>
          <a:xfrm>
            <a:off x="9842500" y="5156200"/>
            <a:ext cx="1200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Aug</a:t>
            </a:r>
            <a:endParaRPr lang="en-US" sz="1200" dirty="0"/>
          </a:p>
        </p:txBody>
      </p:sp>
      <p:sp>
        <p:nvSpPr>
          <p:cNvPr id="33" name="Text 30"/>
          <p:cNvSpPr/>
          <p:nvPr/>
        </p:nvSpPr>
        <p:spPr>
          <a:xfrm>
            <a:off x="10991850" y="5156200"/>
            <a:ext cx="438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Sep</a:t>
            </a:r>
            <a:endParaRPr lang="en-US" sz="1200" dirty="0"/>
          </a:p>
        </p:txBody>
      </p:sp>
      <p:sp>
        <p:nvSpPr>
          <p:cNvPr id="34" name="Text 31"/>
          <p:cNvSpPr/>
          <p:nvPr/>
        </p:nvSpPr>
        <p:spPr>
          <a:xfrm>
            <a:off x="812800" y="5499100"/>
            <a:ext cx="1307604"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Forecast error:</a:t>
            </a:r>
            <a:endParaRPr lang="en-US" sz="1300" dirty="0"/>
          </a:p>
        </p:txBody>
      </p:sp>
      <p:sp>
        <p:nvSpPr>
          <p:cNvPr id="35" name="Shape 32"/>
          <p:cNvSpPr/>
          <p:nvPr/>
        </p:nvSpPr>
        <p:spPr>
          <a:xfrm>
            <a:off x="2120404" y="5525740"/>
            <a:ext cx="279400" cy="177800"/>
          </a:xfrm>
          <a:prstGeom prst="roundRect">
            <a:avLst>
              <a:gd name="adj" fmla="val 14286"/>
            </a:avLst>
          </a:prstGeom>
          <a:solidFill>
            <a:srgbClr val="C9C3B6"/>
          </a:solidFill>
          <a:ln/>
        </p:spPr>
        <p:txBody>
          <a:bodyPr/>
          <a:lstStyle/>
          <a:p>
            <a:endParaRPr lang="en-IE"/>
          </a:p>
        </p:txBody>
      </p:sp>
      <p:sp>
        <p:nvSpPr>
          <p:cNvPr id="36" name="Text 33"/>
          <p:cNvSpPr/>
          <p:nvPr/>
        </p:nvSpPr>
        <p:spPr>
          <a:xfrm>
            <a:off x="2463304" y="5499100"/>
            <a:ext cx="656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BM Plex Sans" pitchFamily="34" charset="0"/>
                <a:ea typeface="IBM Plex Sans" pitchFamily="34" charset="-122"/>
                <a:cs typeface="IBM Plex Sans" pitchFamily="34" charset="-120"/>
              </a:rPr>
              <a:t>Normal</a:t>
            </a:r>
            <a:endParaRPr lang="en-US" sz="1300" dirty="0"/>
          </a:p>
        </p:txBody>
      </p:sp>
      <p:sp>
        <p:nvSpPr>
          <p:cNvPr id="37" name="Shape 34"/>
          <p:cNvSpPr/>
          <p:nvPr/>
        </p:nvSpPr>
        <p:spPr>
          <a:xfrm>
            <a:off x="3188097" y="5525740"/>
            <a:ext cx="279400" cy="177800"/>
          </a:xfrm>
          <a:prstGeom prst="roundRect">
            <a:avLst>
              <a:gd name="adj" fmla="val 14286"/>
            </a:avLst>
          </a:prstGeom>
          <a:solidFill>
            <a:srgbClr val="E07B39"/>
          </a:solidFill>
          <a:ln/>
        </p:spPr>
        <p:txBody>
          <a:bodyPr/>
          <a:lstStyle/>
          <a:p>
            <a:endParaRPr lang="en-IE"/>
          </a:p>
        </p:txBody>
      </p:sp>
      <p:sp>
        <p:nvSpPr>
          <p:cNvPr id="38" name="Text 35"/>
          <p:cNvSpPr/>
          <p:nvPr/>
        </p:nvSpPr>
        <p:spPr>
          <a:xfrm>
            <a:off x="3530997" y="5499100"/>
            <a:ext cx="285154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BM Plex Sans" pitchFamily="34" charset="0"/>
                <a:ea typeface="IBM Plex Sans" pitchFamily="34" charset="-122"/>
                <a:cs typeface="IBM Plex Sans" pitchFamily="34" charset="-120"/>
              </a:rPr>
              <a:t>Unusual (above the dashed line)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0F1B2D"/>
                </a:solidFill>
                <a:latin typeface="Space Grotesk" pitchFamily="34" charset="0"/>
                <a:ea typeface="Space Grotesk" pitchFamily="34" charset="-122"/>
                <a:cs typeface="Space Grotesk" pitchFamily="34" charset="-120"/>
              </a:rPr>
              <a:t>The ranking moved, </a:t>
            </a:r>
            <a:r>
              <a:rPr lang="en-US" sz="3600" b="1" i="0" dirty="0">
                <a:solidFill>
                  <a:srgbClr val="B85A1E"/>
                </a:solidFill>
                <a:latin typeface="Space Grotesk" pitchFamily="34" charset="0"/>
                <a:ea typeface="Space Grotesk" pitchFamily="34" charset="-122"/>
                <a:cs typeface="Space Grotesk" pitchFamily="34" charset="-120"/>
              </a:rPr>
              <a:t>but gave no warning</a:t>
            </a:r>
            <a:endParaRPr lang="en-US" sz="3600" dirty="0"/>
          </a:p>
        </p:txBody>
      </p:sp>
      <p:sp>
        <p:nvSpPr>
          <p:cNvPr id="3" name="Text 1"/>
          <p:cNvSpPr/>
          <p:nvPr/>
        </p:nvSpPr>
        <p:spPr>
          <a:xfrm>
            <a:off x="812800" y="1625600"/>
            <a:ext cx="3924300" cy="1104900"/>
          </a:xfrm>
          <a:prstGeom prst="rect">
            <a:avLst/>
          </a:prstGeom>
          <a:noFill/>
          <a:ln/>
        </p:spPr>
        <p:txBody>
          <a:bodyPr wrap="square" lIns="0" tIns="0" rIns="0" bIns="0" rtlCol="0" anchor="t">
            <a:normAutofit/>
          </a:bodyPr>
          <a:lstStyle/>
          <a:p>
            <a:pPr marL="0" indent="0" algn="l">
              <a:lnSpc>
                <a:spcPts val="8500"/>
              </a:lnSpc>
              <a:buNone/>
            </a:pPr>
            <a:r>
              <a:rPr lang="en-US" sz="8500" b="1" dirty="0">
                <a:solidFill>
                  <a:srgbClr val="B85A1E"/>
                </a:solidFill>
                <a:latin typeface="Space Grotesk" pitchFamily="34" charset="0"/>
                <a:ea typeface="Space Grotesk" pitchFamily="34" charset="-122"/>
                <a:cs typeface="Space Grotesk" pitchFamily="34" charset="-120"/>
              </a:rPr>
              <a:t>15/15</a:t>
            </a:r>
            <a:endParaRPr lang="en-US" sz="8500" dirty="0"/>
          </a:p>
        </p:txBody>
      </p:sp>
      <p:sp>
        <p:nvSpPr>
          <p:cNvPr id="4" name="Text 2"/>
          <p:cNvSpPr/>
          <p:nvPr/>
        </p:nvSpPr>
        <p:spPr>
          <a:xfrm>
            <a:off x="812800" y="2832100"/>
            <a:ext cx="3793490" cy="84827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Space Grotesk" pitchFamily="34" charset="0"/>
                <a:ea typeface="Space Grotesk" pitchFamily="34" charset="-122"/>
                <a:cs typeface="Space Grotesk" pitchFamily="34" charset="-120"/>
              </a:rPr>
              <a:t>fortnights after the shock had yesterday's price in the top three</a:t>
            </a:r>
            <a:endParaRPr lang="en-US" sz="1800" dirty="0"/>
          </a:p>
        </p:txBody>
      </p:sp>
      <p:sp>
        <p:nvSpPr>
          <p:cNvPr id="5" name="Text 3"/>
          <p:cNvSpPr/>
          <p:nvPr/>
        </p:nvSpPr>
        <p:spPr>
          <a:xfrm>
            <a:off x="812800" y="3530600"/>
            <a:ext cx="379349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Before the shock: only 4 of 8.</a:t>
            </a:r>
            <a:endParaRPr lang="en-US" sz="1400" dirty="0"/>
          </a:p>
        </p:txBody>
      </p:sp>
      <p:sp>
        <p:nvSpPr>
          <p:cNvPr id="6" name="Shape 4"/>
          <p:cNvSpPr/>
          <p:nvPr/>
        </p:nvSpPr>
        <p:spPr>
          <a:xfrm>
            <a:off x="4829175" y="1628775"/>
            <a:ext cx="6546850" cy="954931"/>
          </a:xfrm>
          <a:prstGeom prst="roundRect">
            <a:avLst>
              <a:gd name="adj" fmla="val 8977"/>
            </a:avLst>
          </a:prstGeom>
          <a:solidFill>
            <a:srgbClr val="FFFEFB"/>
          </a:solidFill>
          <a:ln w="6350">
            <a:solidFill>
              <a:srgbClr val="DED9CE"/>
            </a:solidFill>
            <a:prstDash val="solid"/>
          </a:ln>
        </p:spPr>
        <p:txBody>
          <a:bodyPr/>
          <a:lstStyle/>
          <a:p>
            <a:endParaRPr lang="en-IE"/>
          </a:p>
        </p:txBody>
      </p:sp>
      <p:sp>
        <p:nvSpPr>
          <p:cNvPr id="7" name="Shape 5"/>
          <p:cNvSpPr/>
          <p:nvPr/>
        </p:nvSpPr>
        <p:spPr>
          <a:xfrm>
            <a:off x="5010150" y="1877616"/>
            <a:ext cx="457200" cy="457200"/>
          </a:xfrm>
          <a:prstGeom prst="roundRect">
            <a:avLst>
              <a:gd name="adj" fmla="val 16667"/>
            </a:avLst>
          </a:prstGeom>
          <a:solidFill>
            <a:srgbClr val="F0ECE3"/>
          </a:solidFill>
          <a:ln/>
        </p:spPr>
        <p:txBody>
          <a:bodyPr/>
          <a:lstStyle/>
          <a:p>
            <a:endParaRPr lang="en-IE"/>
          </a:p>
        </p:txBody>
      </p:sp>
      <p:pic>
        <p:nvPicPr>
          <p:cNvPr id="8" name="Image 0" descr="Chart"/>
          <p:cNvPicPr>
            <a:picLocks noChangeAspect="1"/>
          </p:cNvPicPr>
          <p:nvPr/>
        </p:nvPicPr>
        <p:blipFill>
          <a:blip r:embed="rId3"/>
          <a:srcRect/>
          <a:stretch/>
        </p:blipFill>
        <p:spPr>
          <a:xfrm>
            <a:off x="5111750" y="1979216"/>
            <a:ext cx="254000" cy="254000"/>
          </a:xfrm>
          <a:prstGeom prst="rect">
            <a:avLst/>
          </a:prstGeom>
        </p:spPr>
      </p:pic>
      <p:sp>
        <p:nvSpPr>
          <p:cNvPr id="9" name="Text 6"/>
          <p:cNvSpPr/>
          <p:nvPr/>
        </p:nvSpPr>
        <p:spPr>
          <a:xfrm>
            <a:off x="5619750" y="1733550"/>
            <a:ext cx="574255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Space Grotesk" pitchFamily="34" charset="0"/>
                <a:ea typeface="Space Grotesk" pitchFamily="34" charset="-122"/>
                <a:cs typeface="Space Grotesk" pitchFamily="34" charset="-120"/>
              </a:rPr>
              <a:t>Yesterday's price took over</a:t>
            </a:r>
            <a:endParaRPr lang="en-US" sz="1800" dirty="0"/>
          </a:p>
        </p:txBody>
      </p:sp>
      <p:sp>
        <p:nvSpPr>
          <p:cNvPr id="10" name="Text 7"/>
          <p:cNvSpPr/>
          <p:nvPr/>
        </p:nvSpPr>
        <p:spPr>
          <a:xfrm>
            <a:off x="5619750" y="2033240"/>
            <a:ext cx="574255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In the first fortnight after the shock it was the top input for the first time. From mid-July it led every fortnight.</a:t>
            </a:r>
            <a:endParaRPr lang="en-US" sz="1300" dirty="0"/>
          </a:p>
        </p:txBody>
      </p:sp>
      <p:sp>
        <p:nvSpPr>
          <p:cNvPr id="11" name="Shape 8"/>
          <p:cNvSpPr/>
          <p:nvPr/>
        </p:nvSpPr>
        <p:spPr>
          <a:xfrm>
            <a:off x="4829175" y="2666256"/>
            <a:ext cx="6546850" cy="954931"/>
          </a:xfrm>
          <a:prstGeom prst="roundRect">
            <a:avLst>
              <a:gd name="adj" fmla="val 8977"/>
            </a:avLst>
          </a:prstGeom>
          <a:solidFill>
            <a:srgbClr val="FFFEFB"/>
          </a:solidFill>
          <a:ln w="6350">
            <a:solidFill>
              <a:srgbClr val="DED9CE"/>
            </a:solidFill>
            <a:prstDash val="solid"/>
          </a:ln>
        </p:spPr>
        <p:txBody>
          <a:bodyPr/>
          <a:lstStyle/>
          <a:p>
            <a:endParaRPr lang="en-IE"/>
          </a:p>
        </p:txBody>
      </p:sp>
      <p:sp>
        <p:nvSpPr>
          <p:cNvPr id="12" name="Shape 9"/>
          <p:cNvSpPr/>
          <p:nvPr/>
        </p:nvSpPr>
        <p:spPr>
          <a:xfrm>
            <a:off x="5010150" y="2915096"/>
            <a:ext cx="457200" cy="457200"/>
          </a:xfrm>
          <a:prstGeom prst="roundRect">
            <a:avLst>
              <a:gd name="adj" fmla="val 16667"/>
            </a:avLst>
          </a:prstGeom>
          <a:solidFill>
            <a:srgbClr val="F0ECE3"/>
          </a:solidFill>
          <a:ln/>
        </p:spPr>
        <p:txBody>
          <a:bodyPr/>
          <a:lstStyle/>
          <a:p>
            <a:endParaRPr lang="en-IE"/>
          </a:p>
        </p:txBody>
      </p:sp>
      <p:pic>
        <p:nvPicPr>
          <p:cNvPr id="13" name="Image 1" descr="Users"/>
          <p:cNvPicPr>
            <a:picLocks noChangeAspect="1"/>
          </p:cNvPicPr>
          <p:nvPr/>
        </p:nvPicPr>
        <p:blipFill>
          <a:blip r:embed="rId4"/>
          <a:srcRect/>
          <a:stretch/>
        </p:blipFill>
        <p:spPr>
          <a:xfrm>
            <a:off x="5111750" y="3016696"/>
            <a:ext cx="254000" cy="254000"/>
          </a:xfrm>
          <a:prstGeom prst="rect">
            <a:avLst/>
          </a:prstGeom>
        </p:spPr>
      </p:pic>
      <p:sp>
        <p:nvSpPr>
          <p:cNvPr id="14" name="Text 10"/>
          <p:cNvSpPr/>
          <p:nvPr/>
        </p:nvSpPr>
        <p:spPr>
          <a:xfrm>
            <a:off x="5619750" y="2771031"/>
            <a:ext cx="574255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Space Grotesk" pitchFamily="34" charset="0"/>
                <a:ea typeface="Space Grotesk" pitchFamily="34" charset="-122"/>
                <a:cs typeface="Space Grotesk" pitchFamily="34" charset="-120"/>
              </a:rPr>
              <a:t>Demand dropped out</a:t>
            </a:r>
            <a:endParaRPr lang="en-US" sz="1800" dirty="0"/>
          </a:p>
        </p:txBody>
      </p:sp>
      <p:sp>
        <p:nvSpPr>
          <p:cNvPr id="15" name="Text 11"/>
          <p:cNvSpPr/>
          <p:nvPr/>
        </p:nvSpPr>
        <p:spPr>
          <a:xfrm>
            <a:off x="5619750" y="3070721"/>
            <a:ext cx="574255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In the top three in all 8 fortnights before the shock, but in just 1 of 15 after it.</a:t>
            </a:r>
            <a:endParaRPr lang="en-US" sz="1300" dirty="0"/>
          </a:p>
        </p:txBody>
      </p:sp>
      <p:sp>
        <p:nvSpPr>
          <p:cNvPr id="16" name="Shape 12"/>
          <p:cNvSpPr/>
          <p:nvPr/>
        </p:nvSpPr>
        <p:spPr>
          <a:xfrm>
            <a:off x="4826000" y="3700562"/>
            <a:ext cx="6553200" cy="948581"/>
          </a:xfrm>
          <a:prstGeom prst="roundRect">
            <a:avLst>
              <a:gd name="adj" fmla="val 9372"/>
            </a:avLst>
          </a:prstGeom>
          <a:solidFill>
            <a:srgbClr val="0F1B2D"/>
          </a:solidFill>
          <a:ln/>
        </p:spPr>
        <p:txBody>
          <a:bodyPr/>
          <a:lstStyle/>
          <a:p>
            <a:endParaRPr lang="en-IE"/>
          </a:p>
        </p:txBody>
      </p:sp>
      <p:sp>
        <p:nvSpPr>
          <p:cNvPr id="17" name="Shape 13"/>
          <p:cNvSpPr/>
          <p:nvPr/>
        </p:nvSpPr>
        <p:spPr>
          <a:xfrm>
            <a:off x="5003800" y="3946227"/>
            <a:ext cx="457200" cy="457200"/>
          </a:xfrm>
          <a:prstGeom prst="roundRect">
            <a:avLst>
              <a:gd name="adj" fmla="val 16667"/>
            </a:avLst>
          </a:prstGeom>
          <a:solidFill>
            <a:srgbClr val="23324A"/>
          </a:solidFill>
          <a:ln/>
        </p:spPr>
        <p:txBody>
          <a:bodyPr/>
          <a:lstStyle/>
          <a:p>
            <a:endParaRPr lang="en-IE"/>
          </a:p>
        </p:txBody>
      </p:sp>
      <p:pic>
        <p:nvPicPr>
          <p:cNvPr id="18" name="Image 2" descr="Chart"/>
          <p:cNvPicPr>
            <a:picLocks noChangeAspect="1"/>
          </p:cNvPicPr>
          <p:nvPr/>
        </p:nvPicPr>
        <p:blipFill>
          <a:blip r:embed="rId5"/>
          <a:srcRect/>
          <a:stretch/>
        </p:blipFill>
        <p:spPr>
          <a:xfrm>
            <a:off x="5105400" y="4047827"/>
            <a:ext cx="254000" cy="254000"/>
          </a:xfrm>
          <a:prstGeom prst="rect">
            <a:avLst/>
          </a:prstGeom>
        </p:spPr>
      </p:pic>
      <p:sp>
        <p:nvSpPr>
          <p:cNvPr id="19" name="Text 14"/>
          <p:cNvSpPr/>
          <p:nvPr/>
        </p:nvSpPr>
        <p:spPr>
          <a:xfrm>
            <a:off x="5613400" y="3802162"/>
            <a:ext cx="575564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Space Grotesk" pitchFamily="34" charset="0"/>
                <a:ea typeface="Space Grotesk" pitchFamily="34" charset="-122"/>
                <a:cs typeface="Space Grotesk" pitchFamily="34" charset="-120"/>
              </a:rPr>
              <a:t>But no early warning</a:t>
            </a:r>
            <a:endParaRPr lang="en-US" sz="1800" dirty="0"/>
          </a:p>
        </p:txBody>
      </p:sp>
      <p:sp>
        <p:nvSpPr>
          <p:cNvPr id="20" name="Text 15"/>
          <p:cNvSpPr/>
          <p:nvPr/>
        </p:nvSpPr>
        <p:spPr>
          <a:xfrm>
            <a:off x="5613400" y="4101852"/>
            <a:ext cx="57556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3CEDB"/>
                </a:solidFill>
                <a:latin typeface="IBM Plex Sans" pitchFamily="34" charset="0"/>
                <a:ea typeface="IBM Plex Sans" pitchFamily="34" charset="-122"/>
                <a:cs typeface="IBM Plex Sans" pitchFamily="34" charset="-120"/>
              </a:rPr>
              <a:t>Wind was back on top the next fortnight. Tau never crossed its warning line before the error did, on 20 June.</a:t>
            </a:r>
            <a:endParaRPr lang="en-US" sz="1300" dirty="0"/>
          </a:p>
        </p:txBody>
      </p:sp>
      <p:sp>
        <p:nvSpPr>
          <p:cNvPr id="21" name="Shape 16"/>
          <p:cNvSpPr/>
          <p:nvPr/>
        </p:nvSpPr>
        <p:spPr>
          <a:xfrm>
            <a:off x="812800" y="5885160"/>
            <a:ext cx="152400" cy="152400"/>
          </a:xfrm>
          <a:prstGeom prst="roundRect">
            <a:avLst>
              <a:gd name="adj" fmla="val 16667"/>
            </a:avLst>
          </a:prstGeom>
          <a:solidFill>
            <a:srgbClr val="2F6FAE"/>
          </a:solidFill>
          <a:ln/>
        </p:spPr>
        <p:txBody>
          <a:bodyPr/>
          <a:lstStyle/>
          <a:p>
            <a:endParaRPr lang="en-IE"/>
          </a:p>
        </p:txBody>
      </p:sp>
      <p:sp>
        <p:nvSpPr>
          <p:cNvPr id="22" name="Text 17"/>
          <p:cNvSpPr/>
          <p:nvPr/>
        </p:nvSpPr>
        <p:spPr>
          <a:xfrm>
            <a:off x="1016000" y="5854700"/>
            <a:ext cx="399653"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0F1B2D"/>
                </a:solidFill>
                <a:latin typeface="IBM Plex Sans" pitchFamily="34" charset="0"/>
                <a:ea typeface="IBM Plex Sans" pitchFamily="34" charset="-122"/>
                <a:cs typeface="IBM Plex Sans" pitchFamily="34" charset="-120"/>
              </a:rPr>
              <a:t>Wind</a:t>
            </a:r>
            <a:endParaRPr lang="en-US" sz="1200" dirty="0"/>
          </a:p>
        </p:txBody>
      </p:sp>
      <p:sp>
        <p:nvSpPr>
          <p:cNvPr id="23" name="Shape 18"/>
          <p:cNvSpPr/>
          <p:nvPr/>
        </p:nvSpPr>
        <p:spPr>
          <a:xfrm>
            <a:off x="1568053" y="5885160"/>
            <a:ext cx="152400" cy="152400"/>
          </a:xfrm>
          <a:prstGeom prst="roundRect">
            <a:avLst>
              <a:gd name="adj" fmla="val 16667"/>
            </a:avLst>
          </a:prstGeom>
          <a:solidFill>
            <a:srgbClr val="E3A82B"/>
          </a:solidFill>
          <a:ln/>
        </p:spPr>
        <p:txBody>
          <a:bodyPr/>
          <a:lstStyle/>
          <a:p>
            <a:endParaRPr lang="en-IE"/>
          </a:p>
        </p:txBody>
      </p:sp>
      <p:sp>
        <p:nvSpPr>
          <p:cNvPr id="24" name="Text 19"/>
          <p:cNvSpPr/>
          <p:nvPr/>
        </p:nvSpPr>
        <p:spPr>
          <a:xfrm>
            <a:off x="1771253" y="5854700"/>
            <a:ext cx="403473"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0F1B2D"/>
                </a:solidFill>
                <a:latin typeface="IBM Plex Sans" pitchFamily="34" charset="0"/>
                <a:ea typeface="IBM Plex Sans" pitchFamily="34" charset="-122"/>
                <a:cs typeface="IBM Plex Sans" pitchFamily="34" charset="-120"/>
              </a:rPr>
              <a:t>Solar</a:t>
            </a:r>
            <a:endParaRPr lang="en-US" sz="1200" dirty="0"/>
          </a:p>
        </p:txBody>
      </p:sp>
      <p:sp>
        <p:nvSpPr>
          <p:cNvPr id="25" name="Shape 20"/>
          <p:cNvSpPr/>
          <p:nvPr/>
        </p:nvSpPr>
        <p:spPr>
          <a:xfrm>
            <a:off x="2327126" y="5885160"/>
            <a:ext cx="152400" cy="152400"/>
          </a:xfrm>
          <a:prstGeom prst="roundRect">
            <a:avLst>
              <a:gd name="adj" fmla="val 16667"/>
            </a:avLst>
          </a:prstGeom>
          <a:solidFill>
            <a:srgbClr val="14524A"/>
          </a:solidFill>
          <a:ln/>
        </p:spPr>
        <p:txBody>
          <a:bodyPr/>
          <a:lstStyle/>
          <a:p>
            <a:endParaRPr lang="en-IE"/>
          </a:p>
        </p:txBody>
      </p:sp>
      <p:sp>
        <p:nvSpPr>
          <p:cNvPr id="26" name="Text 21"/>
          <p:cNvSpPr/>
          <p:nvPr/>
        </p:nvSpPr>
        <p:spPr>
          <a:xfrm>
            <a:off x="2530326" y="5854700"/>
            <a:ext cx="1218952"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0F1B2D"/>
                </a:solidFill>
                <a:latin typeface="IBM Plex Sans" pitchFamily="34" charset="0"/>
                <a:ea typeface="IBM Plex Sans" pitchFamily="34" charset="-122"/>
                <a:cs typeface="IBM Plex Sans" pitchFamily="34" charset="-120"/>
              </a:rPr>
              <a:t>Yesterday's price</a:t>
            </a:r>
            <a:endParaRPr lang="en-US" sz="1200" dirty="0"/>
          </a:p>
        </p:txBody>
      </p:sp>
      <p:sp>
        <p:nvSpPr>
          <p:cNvPr id="27" name="Shape 22"/>
          <p:cNvSpPr/>
          <p:nvPr/>
        </p:nvSpPr>
        <p:spPr>
          <a:xfrm>
            <a:off x="3901678" y="5885160"/>
            <a:ext cx="152400" cy="152400"/>
          </a:xfrm>
          <a:prstGeom prst="roundRect">
            <a:avLst>
              <a:gd name="adj" fmla="val 16667"/>
            </a:avLst>
          </a:prstGeom>
          <a:solidFill>
            <a:srgbClr val="A6927A"/>
          </a:solidFill>
          <a:ln/>
        </p:spPr>
        <p:txBody>
          <a:bodyPr/>
          <a:lstStyle/>
          <a:p>
            <a:endParaRPr lang="en-IE"/>
          </a:p>
        </p:txBody>
      </p:sp>
      <p:sp>
        <p:nvSpPr>
          <p:cNvPr id="28" name="Text 23"/>
          <p:cNvSpPr/>
          <p:nvPr/>
        </p:nvSpPr>
        <p:spPr>
          <a:xfrm>
            <a:off x="4104878" y="5854700"/>
            <a:ext cx="62612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0F1B2D"/>
                </a:solidFill>
                <a:latin typeface="IBM Plex Sans" pitchFamily="34" charset="0"/>
                <a:ea typeface="IBM Plex Sans" pitchFamily="34" charset="-122"/>
                <a:cs typeface="IBM Plex Sans" pitchFamily="34" charset="-120"/>
              </a:rPr>
              <a:t>Demand</a:t>
            </a:r>
            <a:endParaRPr lang="en-US" sz="1200" dirty="0"/>
          </a:p>
        </p:txBody>
      </p:sp>
      <p:sp>
        <p:nvSpPr>
          <p:cNvPr id="29" name="Shape 24"/>
          <p:cNvSpPr/>
          <p:nvPr/>
        </p:nvSpPr>
        <p:spPr>
          <a:xfrm>
            <a:off x="4883398" y="5929610"/>
            <a:ext cx="152400" cy="63500"/>
          </a:xfrm>
          <a:prstGeom prst="roundRect">
            <a:avLst>
              <a:gd name="adj" fmla="val 30000"/>
            </a:avLst>
          </a:prstGeom>
          <a:solidFill>
            <a:srgbClr val="14524A">
              <a:alpha val="35000"/>
            </a:srgbClr>
          </a:solidFill>
          <a:ln/>
        </p:spPr>
        <p:txBody>
          <a:bodyPr/>
          <a:lstStyle/>
          <a:p>
            <a:endParaRPr lang="en-IE"/>
          </a:p>
        </p:txBody>
      </p:sp>
      <p:sp>
        <p:nvSpPr>
          <p:cNvPr id="30" name="Text 25"/>
          <p:cNvSpPr/>
          <p:nvPr/>
        </p:nvSpPr>
        <p:spPr>
          <a:xfrm>
            <a:off x="5086598" y="5854700"/>
            <a:ext cx="1521321"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Yesterday's price 2nd</a:t>
            </a:r>
            <a:endParaRPr lang="en-US" sz="1200" dirty="0"/>
          </a:p>
        </p:txBody>
      </p:sp>
      <p:sp>
        <p:nvSpPr>
          <p:cNvPr id="31" name="Text 26"/>
          <p:cNvSpPr/>
          <p:nvPr/>
        </p:nvSpPr>
        <p:spPr>
          <a:xfrm>
            <a:off x="4427760" y="4658320"/>
            <a:ext cx="3800031"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B85A1E"/>
                </a:solidFill>
                <a:latin typeface="IBM Plex Sans" pitchFamily="34" charset="0"/>
                <a:ea typeface="IBM Plex Sans" pitchFamily="34" charset="-122"/>
                <a:cs typeface="IBM Plex Sans" pitchFamily="34" charset="-120"/>
              </a:rPr>
              <a:t>16 weeks · ranking shifts, no warning</a:t>
            </a:r>
            <a:endParaRPr lang="en-US" sz="1300" dirty="0"/>
          </a:p>
        </p:txBody>
      </p:sp>
      <p:sp>
        <p:nvSpPr>
          <p:cNvPr id="32" name="Shape 27"/>
          <p:cNvSpPr/>
          <p:nvPr/>
        </p:nvSpPr>
        <p:spPr>
          <a:xfrm>
            <a:off x="4483100" y="4864100"/>
            <a:ext cx="3689350" cy="25400"/>
          </a:xfrm>
          <a:prstGeom prst="rect">
            <a:avLst/>
          </a:prstGeom>
          <a:solidFill>
            <a:srgbClr val="E07B39"/>
          </a:solidFill>
          <a:ln/>
        </p:spPr>
        <p:txBody>
          <a:bodyPr/>
          <a:lstStyle/>
          <a:p>
            <a:endParaRPr lang="en-IE"/>
          </a:p>
        </p:txBody>
      </p:sp>
      <p:sp>
        <p:nvSpPr>
          <p:cNvPr id="33" name="Shape 28"/>
          <p:cNvSpPr/>
          <p:nvPr/>
        </p:nvSpPr>
        <p:spPr>
          <a:xfrm>
            <a:off x="812800" y="4978400"/>
            <a:ext cx="410815" cy="241300"/>
          </a:xfrm>
          <a:prstGeom prst="roundRect">
            <a:avLst>
              <a:gd name="adj" fmla="val 10526"/>
            </a:avLst>
          </a:prstGeom>
          <a:solidFill>
            <a:srgbClr val="2F6FAE"/>
          </a:solidFill>
          <a:ln/>
        </p:spPr>
        <p:txBody>
          <a:bodyPr/>
          <a:lstStyle/>
          <a:p>
            <a:endParaRPr lang="en-IE"/>
          </a:p>
        </p:txBody>
      </p:sp>
      <p:sp>
        <p:nvSpPr>
          <p:cNvPr id="34" name="Shape 29"/>
          <p:cNvSpPr/>
          <p:nvPr/>
        </p:nvSpPr>
        <p:spPr>
          <a:xfrm>
            <a:off x="1274415" y="4978400"/>
            <a:ext cx="410865" cy="241300"/>
          </a:xfrm>
          <a:prstGeom prst="roundRect">
            <a:avLst>
              <a:gd name="adj" fmla="val 10526"/>
            </a:avLst>
          </a:prstGeom>
          <a:solidFill>
            <a:srgbClr val="2F6FAE"/>
          </a:solidFill>
          <a:ln/>
        </p:spPr>
        <p:txBody>
          <a:bodyPr/>
          <a:lstStyle/>
          <a:p>
            <a:endParaRPr lang="en-IE"/>
          </a:p>
        </p:txBody>
      </p:sp>
      <p:sp>
        <p:nvSpPr>
          <p:cNvPr id="35" name="Shape 30"/>
          <p:cNvSpPr/>
          <p:nvPr/>
        </p:nvSpPr>
        <p:spPr>
          <a:xfrm>
            <a:off x="1274415" y="5245100"/>
            <a:ext cx="410865" cy="76200"/>
          </a:xfrm>
          <a:prstGeom prst="roundRect">
            <a:avLst>
              <a:gd name="adj" fmla="val 25000"/>
            </a:avLst>
          </a:prstGeom>
          <a:solidFill>
            <a:srgbClr val="14524A">
              <a:alpha val="35000"/>
            </a:srgbClr>
          </a:solidFill>
          <a:ln/>
        </p:spPr>
        <p:txBody>
          <a:bodyPr/>
          <a:lstStyle/>
          <a:p>
            <a:endParaRPr lang="en-IE"/>
          </a:p>
        </p:txBody>
      </p:sp>
      <p:sp>
        <p:nvSpPr>
          <p:cNvPr id="36" name="Shape 31"/>
          <p:cNvSpPr/>
          <p:nvPr/>
        </p:nvSpPr>
        <p:spPr>
          <a:xfrm>
            <a:off x="1736080" y="4978400"/>
            <a:ext cx="410815" cy="241300"/>
          </a:xfrm>
          <a:prstGeom prst="roundRect">
            <a:avLst>
              <a:gd name="adj" fmla="val 10526"/>
            </a:avLst>
          </a:prstGeom>
          <a:solidFill>
            <a:srgbClr val="2F6FAE"/>
          </a:solidFill>
          <a:ln/>
        </p:spPr>
        <p:txBody>
          <a:bodyPr/>
          <a:lstStyle/>
          <a:p>
            <a:endParaRPr lang="en-IE"/>
          </a:p>
        </p:txBody>
      </p:sp>
      <p:sp>
        <p:nvSpPr>
          <p:cNvPr id="37" name="Shape 32"/>
          <p:cNvSpPr/>
          <p:nvPr/>
        </p:nvSpPr>
        <p:spPr>
          <a:xfrm>
            <a:off x="2197695" y="4978400"/>
            <a:ext cx="410815" cy="241300"/>
          </a:xfrm>
          <a:prstGeom prst="roundRect">
            <a:avLst>
              <a:gd name="adj" fmla="val 10526"/>
            </a:avLst>
          </a:prstGeom>
          <a:solidFill>
            <a:srgbClr val="2F6FAE"/>
          </a:solidFill>
          <a:ln/>
        </p:spPr>
        <p:txBody>
          <a:bodyPr/>
          <a:lstStyle/>
          <a:p>
            <a:endParaRPr lang="en-IE"/>
          </a:p>
        </p:txBody>
      </p:sp>
      <p:sp>
        <p:nvSpPr>
          <p:cNvPr id="38" name="Shape 33"/>
          <p:cNvSpPr/>
          <p:nvPr/>
        </p:nvSpPr>
        <p:spPr>
          <a:xfrm>
            <a:off x="2659311" y="4978400"/>
            <a:ext cx="410815" cy="241300"/>
          </a:xfrm>
          <a:prstGeom prst="roundRect">
            <a:avLst>
              <a:gd name="adj" fmla="val 10526"/>
            </a:avLst>
          </a:prstGeom>
          <a:solidFill>
            <a:srgbClr val="2F6FAE"/>
          </a:solidFill>
          <a:ln/>
        </p:spPr>
        <p:txBody>
          <a:bodyPr/>
          <a:lstStyle/>
          <a:p>
            <a:endParaRPr lang="en-IE"/>
          </a:p>
        </p:txBody>
      </p:sp>
      <p:sp>
        <p:nvSpPr>
          <p:cNvPr id="39" name="Shape 34"/>
          <p:cNvSpPr/>
          <p:nvPr/>
        </p:nvSpPr>
        <p:spPr>
          <a:xfrm>
            <a:off x="3120926" y="4978400"/>
            <a:ext cx="410815" cy="241300"/>
          </a:xfrm>
          <a:prstGeom prst="roundRect">
            <a:avLst>
              <a:gd name="adj" fmla="val 10526"/>
            </a:avLst>
          </a:prstGeom>
          <a:solidFill>
            <a:srgbClr val="A6927A"/>
          </a:solidFill>
          <a:ln/>
        </p:spPr>
        <p:txBody>
          <a:bodyPr/>
          <a:lstStyle/>
          <a:p>
            <a:endParaRPr lang="en-IE"/>
          </a:p>
        </p:txBody>
      </p:sp>
      <p:sp>
        <p:nvSpPr>
          <p:cNvPr id="40" name="Shape 35"/>
          <p:cNvSpPr/>
          <p:nvPr/>
        </p:nvSpPr>
        <p:spPr>
          <a:xfrm>
            <a:off x="3120926" y="5245100"/>
            <a:ext cx="410815" cy="76200"/>
          </a:xfrm>
          <a:prstGeom prst="roundRect">
            <a:avLst>
              <a:gd name="adj" fmla="val 25000"/>
            </a:avLst>
          </a:prstGeom>
          <a:solidFill>
            <a:srgbClr val="14524A">
              <a:alpha val="35000"/>
            </a:srgbClr>
          </a:solidFill>
          <a:ln/>
        </p:spPr>
        <p:txBody>
          <a:bodyPr/>
          <a:lstStyle/>
          <a:p>
            <a:endParaRPr lang="en-IE"/>
          </a:p>
        </p:txBody>
      </p:sp>
      <p:sp>
        <p:nvSpPr>
          <p:cNvPr id="41" name="Shape 36"/>
          <p:cNvSpPr/>
          <p:nvPr/>
        </p:nvSpPr>
        <p:spPr>
          <a:xfrm>
            <a:off x="3582541" y="4978400"/>
            <a:ext cx="410815" cy="241300"/>
          </a:xfrm>
          <a:prstGeom prst="roundRect">
            <a:avLst>
              <a:gd name="adj" fmla="val 10526"/>
            </a:avLst>
          </a:prstGeom>
          <a:solidFill>
            <a:srgbClr val="2F6FAE"/>
          </a:solidFill>
          <a:ln/>
        </p:spPr>
        <p:txBody>
          <a:bodyPr/>
          <a:lstStyle/>
          <a:p>
            <a:endParaRPr lang="en-IE"/>
          </a:p>
        </p:txBody>
      </p:sp>
      <p:sp>
        <p:nvSpPr>
          <p:cNvPr id="42" name="Shape 37"/>
          <p:cNvSpPr/>
          <p:nvPr/>
        </p:nvSpPr>
        <p:spPr>
          <a:xfrm>
            <a:off x="4044156" y="4978400"/>
            <a:ext cx="410815" cy="241300"/>
          </a:xfrm>
          <a:prstGeom prst="roundRect">
            <a:avLst>
              <a:gd name="adj" fmla="val 10526"/>
            </a:avLst>
          </a:prstGeom>
          <a:solidFill>
            <a:srgbClr val="2F6FAE"/>
          </a:solidFill>
          <a:ln/>
        </p:spPr>
        <p:txBody>
          <a:bodyPr/>
          <a:lstStyle/>
          <a:p>
            <a:endParaRPr lang="en-IE"/>
          </a:p>
        </p:txBody>
      </p:sp>
      <p:sp>
        <p:nvSpPr>
          <p:cNvPr id="43" name="Shape 38"/>
          <p:cNvSpPr/>
          <p:nvPr/>
        </p:nvSpPr>
        <p:spPr>
          <a:xfrm>
            <a:off x="4505771" y="4978400"/>
            <a:ext cx="410815" cy="241300"/>
          </a:xfrm>
          <a:prstGeom prst="roundRect">
            <a:avLst>
              <a:gd name="adj" fmla="val 10526"/>
            </a:avLst>
          </a:prstGeom>
          <a:solidFill>
            <a:srgbClr val="14524A"/>
          </a:solidFill>
          <a:ln/>
        </p:spPr>
        <p:txBody>
          <a:bodyPr/>
          <a:lstStyle/>
          <a:p>
            <a:endParaRPr lang="en-IE"/>
          </a:p>
        </p:txBody>
      </p:sp>
      <p:sp>
        <p:nvSpPr>
          <p:cNvPr id="44" name="Shape 39"/>
          <p:cNvSpPr/>
          <p:nvPr/>
        </p:nvSpPr>
        <p:spPr>
          <a:xfrm>
            <a:off x="4967387" y="4978400"/>
            <a:ext cx="410815" cy="241300"/>
          </a:xfrm>
          <a:prstGeom prst="roundRect">
            <a:avLst>
              <a:gd name="adj" fmla="val 10526"/>
            </a:avLst>
          </a:prstGeom>
          <a:solidFill>
            <a:srgbClr val="2F6FAE"/>
          </a:solidFill>
          <a:ln/>
        </p:spPr>
        <p:txBody>
          <a:bodyPr/>
          <a:lstStyle/>
          <a:p>
            <a:endParaRPr lang="en-IE"/>
          </a:p>
        </p:txBody>
      </p:sp>
      <p:sp>
        <p:nvSpPr>
          <p:cNvPr id="45" name="Shape 40"/>
          <p:cNvSpPr/>
          <p:nvPr/>
        </p:nvSpPr>
        <p:spPr>
          <a:xfrm>
            <a:off x="4967387" y="5245100"/>
            <a:ext cx="410815" cy="76200"/>
          </a:xfrm>
          <a:prstGeom prst="roundRect">
            <a:avLst>
              <a:gd name="adj" fmla="val 25000"/>
            </a:avLst>
          </a:prstGeom>
          <a:solidFill>
            <a:srgbClr val="14524A">
              <a:alpha val="35000"/>
            </a:srgbClr>
          </a:solidFill>
          <a:ln/>
        </p:spPr>
        <p:txBody>
          <a:bodyPr/>
          <a:lstStyle/>
          <a:p>
            <a:endParaRPr lang="en-IE"/>
          </a:p>
        </p:txBody>
      </p:sp>
      <p:sp>
        <p:nvSpPr>
          <p:cNvPr id="46" name="Shape 41"/>
          <p:cNvSpPr/>
          <p:nvPr/>
        </p:nvSpPr>
        <p:spPr>
          <a:xfrm>
            <a:off x="5429002" y="4978400"/>
            <a:ext cx="410815" cy="241300"/>
          </a:xfrm>
          <a:prstGeom prst="roundRect">
            <a:avLst>
              <a:gd name="adj" fmla="val 10526"/>
            </a:avLst>
          </a:prstGeom>
          <a:solidFill>
            <a:srgbClr val="2F6FAE"/>
          </a:solidFill>
          <a:ln/>
        </p:spPr>
        <p:txBody>
          <a:bodyPr/>
          <a:lstStyle/>
          <a:p>
            <a:endParaRPr lang="en-IE"/>
          </a:p>
        </p:txBody>
      </p:sp>
      <p:sp>
        <p:nvSpPr>
          <p:cNvPr id="47" name="Shape 42"/>
          <p:cNvSpPr/>
          <p:nvPr/>
        </p:nvSpPr>
        <p:spPr>
          <a:xfrm>
            <a:off x="5890617" y="4978400"/>
            <a:ext cx="410815" cy="241300"/>
          </a:xfrm>
          <a:prstGeom prst="roundRect">
            <a:avLst>
              <a:gd name="adj" fmla="val 10526"/>
            </a:avLst>
          </a:prstGeom>
          <a:solidFill>
            <a:srgbClr val="E3A82B"/>
          </a:solidFill>
          <a:ln/>
        </p:spPr>
        <p:txBody>
          <a:bodyPr/>
          <a:lstStyle/>
          <a:p>
            <a:endParaRPr lang="en-IE"/>
          </a:p>
        </p:txBody>
      </p:sp>
      <p:sp>
        <p:nvSpPr>
          <p:cNvPr id="48" name="Shape 43"/>
          <p:cNvSpPr/>
          <p:nvPr/>
        </p:nvSpPr>
        <p:spPr>
          <a:xfrm>
            <a:off x="5890617" y="5245100"/>
            <a:ext cx="410815" cy="76200"/>
          </a:xfrm>
          <a:prstGeom prst="roundRect">
            <a:avLst>
              <a:gd name="adj" fmla="val 25000"/>
            </a:avLst>
          </a:prstGeom>
          <a:solidFill>
            <a:srgbClr val="14524A">
              <a:alpha val="35000"/>
            </a:srgbClr>
          </a:solidFill>
          <a:ln/>
        </p:spPr>
        <p:txBody>
          <a:bodyPr/>
          <a:lstStyle/>
          <a:p>
            <a:endParaRPr lang="en-IE"/>
          </a:p>
        </p:txBody>
      </p:sp>
      <p:sp>
        <p:nvSpPr>
          <p:cNvPr id="49" name="Shape 44"/>
          <p:cNvSpPr/>
          <p:nvPr/>
        </p:nvSpPr>
        <p:spPr>
          <a:xfrm>
            <a:off x="6352232" y="4978400"/>
            <a:ext cx="410815" cy="241300"/>
          </a:xfrm>
          <a:prstGeom prst="roundRect">
            <a:avLst>
              <a:gd name="adj" fmla="val 10526"/>
            </a:avLst>
          </a:prstGeom>
          <a:solidFill>
            <a:srgbClr val="E3A82B"/>
          </a:solidFill>
          <a:ln/>
        </p:spPr>
        <p:txBody>
          <a:bodyPr/>
          <a:lstStyle/>
          <a:p>
            <a:endParaRPr lang="en-IE"/>
          </a:p>
        </p:txBody>
      </p:sp>
      <p:sp>
        <p:nvSpPr>
          <p:cNvPr id="50" name="Shape 45"/>
          <p:cNvSpPr/>
          <p:nvPr/>
        </p:nvSpPr>
        <p:spPr>
          <a:xfrm>
            <a:off x="6352232" y="5245100"/>
            <a:ext cx="410815" cy="76200"/>
          </a:xfrm>
          <a:prstGeom prst="roundRect">
            <a:avLst>
              <a:gd name="adj" fmla="val 25000"/>
            </a:avLst>
          </a:prstGeom>
          <a:solidFill>
            <a:srgbClr val="14524A">
              <a:alpha val="35000"/>
            </a:srgbClr>
          </a:solidFill>
          <a:ln/>
        </p:spPr>
        <p:txBody>
          <a:bodyPr/>
          <a:lstStyle/>
          <a:p>
            <a:endParaRPr lang="en-IE"/>
          </a:p>
        </p:txBody>
      </p:sp>
      <p:sp>
        <p:nvSpPr>
          <p:cNvPr id="51" name="Shape 46"/>
          <p:cNvSpPr/>
          <p:nvPr/>
        </p:nvSpPr>
        <p:spPr>
          <a:xfrm>
            <a:off x="6813848" y="4978400"/>
            <a:ext cx="410815" cy="241300"/>
          </a:xfrm>
          <a:prstGeom prst="roundRect">
            <a:avLst>
              <a:gd name="adj" fmla="val 10526"/>
            </a:avLst>
          </a:prstGeom>
          <a:solidFill>
            <a:srgbClr val="14524A"/>
          </a:solidFill>
          <a:ln/>
        </p:spPr>
        <p:txBody>
          <a:bodyPr/>
          <a:lstStyle/>
          <a:p>
            <a:endParaRPr lang="en-IE"/>
          </a:p>
        </p:txBody>
      </p:sp>
      <p:sp>
        <p:nvSpPr>
          <p:cNvPr id="52" name="Shape 47"/>
          <p:cNvSpPr/>
          <p:nvPr/>
        </p:nvSpPr>
        <p:spPr>
          <a:xfrm>
            <a:off x="7275463" y="4978400"/>
            <a:ext cx="410815" cy="241300"/>
          </a:xfrm>
          <a:prstGeom prst="roundRect">
            <a:avLst>
              <a:gd name="adj" fmla="val 10526"/>
            </a:avLst>
          </a:prstGeom>
          <a:solidFill>
            <a:srgbClr val="E3A82B"/>
          </a:solidFill>
          <a:ln/>
        </p:spPr>
        <p:txBody>
          <a:bodyPr/>
          <a:lstStyle/>
          <a:p>
            <a:endParaRPr lang="en-IE"/>
          </a:p>
        </p:txBody>
      </p:sp>
      <p:sp>
        <p:nvSpPr>
          <p:cNvPr id="53" name="Shape 48"/>
          <p:cNvSpPr/>
          <p:nvPr/>
        </p:nvSpPr>
        <p:spPr>
          <a:xfrm>
            <a:off x="7275463" y="5245100"/>
            <a:ext cx="410815" cy="76200"/>
          </a:xfrm>
          <a:prstGeom prst="roundRect">
            <a:avLst>
              <a:gd name="adj" fmla="val 25000"/>
            </a:avLst>
          </a:prstGeom>
          <a:solidFill>
            <a:srgbClr val="14524A">
              <a:alpha val="35000"/>
            </a:srgbClr>
          </a:solidFill>
          <a:ln/>
        </p:spPr>
        <p:txBody>
          <a:bodyPr/>
          <a:lstStyle/>
          <a:p>
            <a:endParaRPr lang="en-IE"/>
          </a:p>
        </p:txBody>
      </p:sp>
      <p:sp>
        <p:nvSpPr>
          <p:cNvPr id="54" name="Shape 49"/>
          <p:cNvSpPr/>
          <p:nvPr/>
        </p:nvSpPr>
        <p:spPr>
          <a:xfrm>
            <a:off x="7737078" y="4978400"/>
            <a:ext cx="410815" cy="241300"/>
          </a:xfrm>
          <a:prstGeom prst="roundRect">
            <a:avLst>
              <a:gd name="adj" fmla="val 10526"/>
            </a:avLst>
          </a:prstGeom>
          <a:solidFill>
            <a:srgbClr val="E3A82B"/>
          </a:solidFill>
          <a:ln/>
        </p:spPr>
        <p:txBody>
          <a:bodyPr/>
          <a:lstStyle/>
          <a:p>
            <a:endParaRPr lang="en-IE"/>
          </a:p>
        </p:txBody>
      </p:sp>
      <p:sp>
        <p:nvSpPr>
          <p:cNvPr id="55" name="Shape 50"/>
          <p:cNvSpPr/>
          <p:nvPr/>
        </p:nvSpPr>
        <p:spPr>
          <a:xfrm>
            <a:off x="7737078" y="5245100"/>
            <a:ext cx="410815" cy="76200"/>
          </a:xfrm>
          <a:prstGeom prst="roundRect">
            <a:avLst>
              <a:gd name="adj" fmla="val 25000"/>
            </a:avLst>
          </a:prstGeom>
          <a:solidFill>
            <a:srgbClr val="14524A">
              <a:alpha val="35000"/>
            </a:srgbClr>
          </a:solidFill>
          <a:ln/>
        </p:spPr>
        <p:txBody>
          <a:bodyPr/>
          <a:lstStyle/>
          <a:p>
            <a:endParaRPr lang="en-IE"/>
          </a:p>
        </p:txBody>
      </p:sp>
      <p:sp>
        <p:nvSpPr>
          <p:cNvPr id="56" name="Shape 51"/>
          <p:cNvSpPr/>
          <p:nvPr/>
        </p:nvSpPr>
        <p:spPr>
          <a:xfrm>
            <a:off x="8198693" y="4978400"/>
            <a:ext cx="410815" cy="241300"/>
          </a:xfrm>
          <a:prstGeom prst="roundRect">
            <a:avLst>
              <a:gd name="adj" fmla="val 10526"/>
            </a:avLst>
          </a:prstGeom>
          <a:solidFill>
            <a:srgbClr val="14524A"/>
          </a:solidFill>
          <a:ln/>
        </p:spPr>
        <p:txBody>
          <a:bodyPr/>
          <a:lstStyle/>
          <a:p>
            <a:endParaRPr lang="en-IE"/>
          </a:p>
        </p:txBody>
      </p:sp>
      <p:sp>
        <p:nvSpPr>
          <p:cNvPr id="57" name="Shape 52"/>
          <p:cNvSpPr/>
          <p:nvPr/>
        </p:nvSpPr>
        <p:spPr>
          <a:xfrm>
            <a:off x="8660309" y="4978400"/>
            <a:ext cx="410815" cy="241300"/>
          </a:xfrm>
          <a:prstGeom prst="roundRect">
            <a:avLst>
              <a:gd name="adj" fmla="val 10526"/>
            </a:avLst>
          </a:prstGeom>
          <a:solidFill>
            <a:srgbClr val="E3A82B"/>
          </a:solidFill>
          <a:ln/>
        </p:spPr>
        <p:txBody>
          <a:bodyPr/>
          <a:lstStyle/>
          <a:p>
            <a:endParaRPr lang="en-IE"/>
          </a:p>
        </p:txBody>
      </p:sp>
      <p:sp>
        <p:nvSpPr>
          <p:cNvPr id="58" name="Shape 53"/>
          <p:cNvSpPr/>
          <p:nvPr/>
        </p:nvSpPr>
        <p:spPr>
          <a:xfrm>
            <a:off x="8660309" y="5245100"/>
            <a:ext cx="410815" cy="76200"/>
          </a:xfrm>
          <a:prstGeom prst="roundRect">
            <a:avLst>
              <a:gd name="adj" fmla="val 25000"/>
            </a:avLst>
          </a:prstGeom>
          <a:solidFill>
            <a:srgbClr val="14524A">
              <a:alpha val="35000"/>
            </a:srgbClr>
          </a:solidFill>
          <a:ln/>
        </p:spPr>
        <p:txBody>
          <a:bodyPr/>
          <a:lstStyle/>
          <a:p>
            <a:endParaRPr lang="en-IE"/>
          </a:p>
        </p:txBody>
      </p:sp>
      <p:sp>
        <p:nvSpPr>
          <p:cNvPr id="59" name="Shape 54"/>
          <p:cNvSpPr/>
          <p:nvPr/>
        </p:nvSpPr>
        <p:spPr>
          <a:xfrm>
            <a:off x="9121924" y="4978400"/>
            <a:ext cx="410815" cy="241300"/>
          </a:xfrm>
          <a:prstGeom prst="roundRect">
            <a:avLst>
              <a:gd name="adj" fmla="val 10526"/>
            </a:avLst>
          </a:prstGeom>
          <a:solidFill>
            <a:srgbClr val="14524A"/>
          </a:solidFill>
          <a:ln/>
        </p:spPr>
        <p:txBody>
          <a:bodyPr/>
          <a:lstStyle/>
          <a:p>
            <a:endParaRPr lang="en-IE"/>
          </a:p>
        </p:txBody>
      </p:sp>
      <p:sp>
        <p:nvSpPr>
          <p:cNvPr id="60" name="Shape 55"/>
          <p:cNvSpPr/>
          <p:nvPr/>
        </p:nvSpPr>
        <p:spPr>
          <a:xfrm>
            <a:off x="9583539" y="4978400"/>
            <a:ext cx="410815" cy="241300"/>
          </a:xfrm>
          <a:prstGeom prst="roundRect">
            <a:avLst>
              <a:gd name="adj" fmla="val 10526"/>
            </a:avLst>
          </a:prstGeom>
          <a:solidFill>
            <a:srgbClr val="14524A"/>
          </a:solidFill>
          <a:ln/>
        </p:spPr>
        <p:txBody>
          <a:bodyPr/>
          <a:lstStyle/>
          <a:p>
            <a:endParaRPr lang="en-IE"/>
          </a:p>
        </p:txBody>
      </p:sp>
      <p:sp>
        <p:nvSpPr>
          <p:cNvPr id="61" name="Shape 56"/>
          <p:cNvSpPr/>
          <p:nvPr/>
        </p:nvSpPr>
        <p:spPr>
          <a:xfrm>
            <a:off x="10045154" y="4978400"/>
            <a:ext cx="410815" cy="241300"/>
          </a:xfrm>
          <a:prstGeom prst="roundRect">
            <a:avLst>
              <a:gd name="adj" fmla="val 10526"/>
            </a:avLst>
          </a:prstGeom>
          <a:solidFill>
            <a:srgbClr val="14524A"/>
          </a:solidFill>
          <a:ln/>
        </p:spPr>
        <p:txBody>
          <a:bodyPr/>
          <a:lstStyle/>
          <a:p>
            <a:endParaRPr lang="en-IE"/>
          </a:p>
        </p:txBody>
      </p:sp>
      <p:sp>
        <p:nvSpPr>
          <p:cNvPr id="62" name="Shape 57"/>
          <p:cNvSpPr/>
          <p:nvPr/>
        </p:nvSpPr>
        <p:spPr>
          <a:xfrm>
            <a:off x="10506770" y="4978400"/>
            <a:ext cx="410815" cy="241300"/>
          </a:xfrm>
          <a:prstGeom prst="roundRect">
            <a:avLst>
              <a:gd name="adj" fmla="val 10526"/>
            </a:avLst>
          </a:prstGeom>
          <a:solidFill>
            <a:srgbClr val="14524A"/>
          </a:solidFill>
          <a:ln/>
        </p:spPr>
        <p:txBody>
          <a:bodyPr/>
          <a:lstStyle/>
          <a:p>
            <a:endParaRPr lang="en-IE"/>
          </a:p>
        </p:txBody>
      </p:sp>
      <p:sp>
        <p:nvSpPr>
          <p:cNvPr id="63" name="Shape 58"/>
          <p:cNvSpPr/>
          <p:nvPr/>
        </p:nvSpPr>
        <p:spPr>
          <a:xfrm>
            <a:off x="10968385" y="4978400"/>
            <a:ext cx="410815" cy="241300"/>
          </a:xfrm>
          <a:prstGeom prst="roundRect">
            <a:avLst>
              <a:gd name="adj" fmla="val 10526"/>
            </a:avLst>
          </a:prstGeom>
          <a:solidFill>
            <a:srgbClr val="14524A"/>
          </a:solidFill>
          <a:ln/>
        </p:spPr>
        <p:txBody>
          <a:bodyPr/>
          <a:lstStyle/>
          <a:p>
            <a:endParaRPr lang="en-IE"/>
          </a:p>
        </p:txBody>
      </p:sp>
      <p:sp>
        <p:nvSpPr>
          <p:cNvPr id="64" name="Shape 59"/>
          <p:cNvSpPr/>
          <p:nvPr/>
        </p:nvSpPr>
        <p:spPr>
          <a:xfrm>
            <a:off x="4470400" y="4889500"/>
            <a:ext cx="25400" cy="520700"/>
          </a:xfrm>
          <a:prstGeom prst="rect">
            <a:avLst/>
          </a:prstGeom>
          <a:solidFill>
            <a:srgbClr val="B85A1E"/>
          </a:solidFill>
          <a:ln/>
        </p:spPr>
        <p:txBody>
          <a:bodyPr/>
          <a:lstStyle/>
          <a:p>
            <a:endParaRPr lang="en-IE"/>
          </a:p>
        </p:txBody>
      </p:sp>
      <p:sp>
        <p:nvSpPr>
          <p:cNvPr id="65" name="Shape 60"/>
          <p:cNvSpPr/>
          <p:nvPr/>
        </p:nvSpPr>
        <p:spPr>
          <a:xfrm>
            <a:off x="8159750" y="4889500"/>
            <a:ext cx="25400" cy="520700"/>
          </a:xfrm>
          <a:prstGeom prst="rect">
            <a:avLst/>
          </a:prstGeom>
          <a:solidFill>
            <a:srgbClr val="0F1B2D"/>
          </a:solidFill>
          <a:ln/>
        </p:spPr>
        <p:txBody>
          <a:bodyPr/>
          <a:lstStyle/>
          <a:p>
            <a:endParaRPr lang="en-IE"/>
          </a:p>
        </p:txBody>
      </p:sp>
      <p:sp>
        <p:nvSpPr>
          <p:cNvPr id="66" name="Text 61"/>
          <p:cNvSpPr/>
          <p:nvPr/>
        </p:nvSpPr>
        <p:spPr>
          <a:xfrm>
            <a:off x="812800" y="5448300"/>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Nov</a:t>
            </a:r>
            <a:endParaRPr lang="en-US" sz="1200" dirty="0"/>
          </a:p>
        </p:txBody>
      </p:sp>
      <p:sp>
        <p:nvSpPr>
          <p:cNvPr id="67" name="Text 62"/>
          <p:cNvSpPr/>
          <p:nvPr/>
        </p:nvSpPr>
        <p:spPr>
          <a:xfrm>
            <a:off x="4483100" y="5448300"/>
            <a:ext cx="2616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5A1E"/>
                </a:solidFill>
                <a:latin typeface="IBM Plex Sans" pitchFamily="34" charset="0"/>
                <a:ea typeface="IBM Plex Sans" pitchFamily="34" charset="-122"/>
                <a:cs typeface="IBM Plex Sans" pitchFamily="34" charset="-120"/>
              </a:rPr>
              <a:t>28 Feb · oil shock</a:t>
            </a:r>
            <a:endParaRPr lang="en-US" sz="1200" dirty="0"/>
          </a:p>
        </p:txBody>
      </p:sp>
      <p:sp>
        <p:nvSpPr>
          <p:cNvPr id="68" name="Text 63"/>
          <p:cNvSpPr/>
          <p:nvPr/>
        </p:nvSpPr>
        <p:spPr>
          <a:xfrm>
            <a:off x="8172450" y="5448300"/>
            <a:ext cx="2616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20 Jun · error unusual</a:t>
            </a:r>
            <a:endParaRPr lang="en-US" sz="1200" dirty="0"/>
          </a:p>
        </p:txBody>
      </p:sp>
      <p:sp>
        <p:nvSpPr>
          <p:cNvPr id="69" name="Text 64"/>
          <p:cNvSpPr/>
          <p:nvPr/>
        </p:nvSpPr>
        <p:spPr>
          <a:xfrm>
            <a:off x="10058400" y="544830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IBM Plex Sans" pitchFamily="34" charset="0"/>
                <a:ea typeface="IBM Plex Sans" pitchFamily="34" charset="-122"/>
                <a:cs typeface="IBM Plex Sans" pitchFamily="34" charset="-120"/>
              </a:rPr>
              <a:t>Sep</a:t>
            </a:r>
            <a:endParaRPr lang="en-US" sz="1200" dirty="0"/>
          </a:p>
        </p:txBody>
      </p:sp>
      <p:sp>
        <p:nvSpPr>
          <p:cNvPr id="70" name="Text 65"/>
          <p:cNvSpPr/>
          <p:nvPr/>
        </p:nvSpPr>
        <p:spPr>
          <a:xfrm>
            <a:off x="812800" y="6339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Each block is one fortnight's top input (mean |SHAP|), blind model. Pre-shock windows are all autumn and winter, so season and shock overlap.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0F1B2D"/>
                </a:solidFill>
                <a:latin typeface="Space Grotesk" pitchFamily="34" charset="0"/>
                <a:ea typeface="Space Grotesk" pitchFamily="34" charset="-122"/>
                <a:cs typeface="Space Grotesk" pitchFamily="34" charset="-120"/>
              </a:rPr>
              <a:t>What if the model could see oil?</a:t>
            </a:r>
            <a:endParaRPr lang="en-US" sz="3600" dirty="0"/>
          </a:p>
        </p:txBody>
      </p:sp>
      <p:sp>
        <p:nvSpPr>
          <p:cNvPr id="3" name="Shape 1"/>
          <p:cNvSpPr/>
          <p:nvPr/>
        </p:nvSpPr>
        <p:spPr>
          <a:xfrm>
            <a:off x="815975" y="1595735"/>
            <a:ext cx="3414167" cy="3135709"/>
          </a:xfrm>
          <a:prstGeom prst="roundRect">
            <a:avLst>
              <a:gd name="adj" fmla="val 3139"/>
            </a:avLst>
          </a:prstGeom>
          <a:solidFill>
            <a:srgbClr val="FFFEFB"/>
          </a:solidFill>
          <a:ln w="6350">
            <a:solidFill>
              <a:srgbClr val="DED9CE"/>
            </a:solidFill>
            <a:prstDash val="solid"/>
          </a:ln>
        </p:spPr>
        <p:txBody>
          <a:bodyPr/>
          <a:lstStyle/>
          <a:p>
            <a:endParaRPr lang="en-IE"/>
          </a:p>
        </p:txBody>
      </p:sp>
      <p:sp>
        <p:nvSpPr>
          <p:cNvPr id="4" name="Text 2"/>
          <p:cNvSpPr/>
          <p:nvPr/>
        </p:nvSpPr>
        <p:spPr>
          <a:xfrm>
            <a:off x="1022350" y="1802110"/>
            <a:ext cx="309145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AE"/>
                </a:solidFill>
                <a:latin typeface="IBM Plex Sans" pitchFamily="34" charset="0"/>
                <a:ea typeface="IBM Plex Sans" pitchFamily="34" charset="-122"/>
                <a:cs typeface="IBM Plex Sans" pitchFamily="34" charset="-120"/>
              </a:rPr>
              <a:t>1 · IT LOOKED LIKE A WIN</a:t>
            </a:r>
            <a:endParaRPr lang="en-US" sz="1200" dirty="0"/>
          </a:p>
        </p:txBody>
      </p:sp>
      <p:sp>
        <p:nvSpPr>
          <p:cNvPr id="5" name="Text 3"/>
          <p:cNvSpPr/>
          <p:nvPr/>
        </p:nvSpPr>
        <p:spPr>
          <a:xfrm>
            <a:off x="1022350" y="2117030"/>
            <a:ext cx="81870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F6FAE"/>
                </a:solidFill>
                <a:latin typeface="Space Grotesk" pitchFamily="34" charset="0"/>
                <a:ea typeface="Space Grotesk" pitchFamily="34" charset="-122"/>
                <a:cs typeface="Space Grotesk" pitchFamily="34" charset="-120"/>
              </a:rPr>
              <a:t>56</a:t>
            </a:r>
            <a:endParaRPr lang="en-US" sz="4800" dirty="0"/>
          </a:p>
        </p:txBody>
      </p:sp>
      <p:sp>
        <p:nvSpPr>
          <p:cNvPr id="6" name="Text 4"/>
          <p:cNvSpPr/>
          <p:nvPr/>
        </p:nvSpPr>
        <p:spPr>
          <a:xfrm>
            <a:off x="1841054" y="2415480"/>
            <a:ext cx="115145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days early</a:t>
            </a:r>
            <a:endParaRPr lang="en-US" sz="1600" dirty="0"/>
          </a:p>
        </p:txBody>
      </p:sp>
      <p:sp>
        <p:nvSpPr>
          <p:cNvPr id="7" name="Text 5"/>
          <p:cNvSpPr/>
          <p:nvPr/>
        </p:nvSpPr>
        <p:spPr>
          <a:xfrm>
            <a:off x="1022350" y="2828230"/>
            <a:ext cx="3091459"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We added the oil price to the model. Its tau crossed the warning line on </a:t>
            </a:r>
            <a:r>
              <a:rPr lang="en-US" sz="1400" b="1" dirty="0">
                <a:solidFill>
                  <a:srgbClr val="0F1B2D"/>
                </a:solidFill>
                <a:latin typeface="IBM Plex Sans" pitchFamily="34" charset="0"/>
                <a:ea typeface="IBM Plex Sans" pitchFamily="34" charset="-122"/>
                <a:cs typeface="IBM Plex Sans" pitchFamily="34" charset="-120"/>
              </a:rPr>
              <a:t>25 April</a:t>
            </a:r>
            <a:r>
              <a:rPr lang="en-US" sz="1400" dirty="0">
                <a:solidFill>
                  <a:srgbClr val="4A5568"/>
                </a:solidFill>
                <a:latin typeface="IBM Plex Sans" pitchFamily="34" charset="0"/>
                <a:ea typeface="IBM Plex Sans" pitchFamily="34" charset="-122"/>
                <a:cs typeface="IBM Plex Sans" pitchFamily="34" charset="-120"/>
              </a:rPr>
              <a:t>, 56 days before the error did.</a:t>
            </a:r>
            <a:endParaRPr lang="en-US" sz="1400" dirty="0"/>
          </a:p>
        </p:txBody>
      </p:sp>
      <p:sp>
        <p:nvSpPr>
          <p:cNvPr id="8" name="Shape 6"/>
          <p:cNvSpPr/>
          <p:nvPr/>
        </p:nvSpPr>
        <p:spPr>
          <a:xfrm>
            <a:off x="4388892" y="1595735"/>
            <a:ext cx="3414216" cy="3135709"/>
          </a:xfrm>
          <a:prstGeom prst="roundRect">
            <a:avLst>
              <a:gd name="adj" fmla="val 3139"/>
            </a:avLst>
          </a:prstGeom>
          <a:solidFill>
            <a:srgbClr val="FFFEFB"/>
          </a:solidFill>
          <a:ln w="6350">
            <a:solidFill>
              <a:srgbClr val="DED9CE"/>
            </a:solidFill>
            <a:prstDash val="solid"/>
          </a:ln>
        </p:spPr>
        <p:txBody>
          <a:bodyPr/>
          <a:lstStyle/>
          <a:p>
            <a:endParaRPr lang="en-IE"/>
          </a:p>
        </p:txBody>
      </p:sp>
      <p:sp>
        <p:nvSpPr>
          <p:cNvPr id="9" name="Text 7"/>
          <p:cNvSpPr/>
          <p:nvPr/>
        </p:nvSpPr>
        <p:spPr>
          <a:xfrm>
            <a:off x="4595267" y="1802110"/>
            <a:ext cx="309151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A1E"/>
                </a:solidFill>
                <a:latin typeface="IBM Plex Sans" pitchFamily="34" charset="0"/>
                <a:ea typeface="IBM Plex Sans" pitchFamily="34" charset="-122"/>
                <a:cs typeface="IBM Plex Sans" pitchFamily="34" charset="-120"/>
              </a:rPr>
              <a:t>2 · BUT IT WASN'T OIL</a:t>
            </a:r>
            <a:endParaRPr lang="en-US" sz="1200" dirty="0"/>
          </a:p>
        </p:txBody>
      </p:sp>
      <p:pic>
        <p:nvPicPr>
          <p:cNvPr id="10" name="Image 0" descr="Sun"/>
          <p:cNvPicPr>
            <a:picLocks noChangeAspect="1"/>
          </p:cNvPicPr>
          <p:nvPr/>
        </p:nvPicPr>
        <p:blipFill>
          <a:blip r:embed="rId3"/>
          <a:srcRect/>
          <a:stretch/>
        </p:blipFill>
        <p:spPr>
          <a:xfrm>
            <a:off x="4595267" y="2117030"/>
            <a:ext cx="457200" cy="457200"/>
          </a:xfrm>
          <a:prstGeom prst="rect">
            <a:avLst/>
          </a:prstGeom>
        </p:spPr>
      </p:pic>
      <p:sp>
        <p:nvSpPr>
          <p:cNvPr id="11" name="Text 8"/>
          <p:cNvSpPr/>
          <p:nvPr/>
        </p:nvSpPr>
        <p:spPr>
          <a:xfrm>
            <a:off x="5154067" y="2203400"/>
            <a:ext cx="2202775"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Solar jumped to 1st</a:t>
            </a:r>
            <a:endParaRPr lang="en-US" sz="1600" dirty="0"/>
          </a:p>
        </p:txBody>
      </p:sp>
      <p:sp>
        <p:nvSpPr>
          <p:cNvPr id="12" name="Text 9"/>
          <p:cNvSpPr/>
          <p:nvPr/>
        </p:nvSpPr>
        <p:spPr>
          <a:xfrm>
            <a:off x="4595267" y="2675830"/>
            <a:ext cx="3091510" cy="126985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Our October snapshot is autumn, so </a:t>
            </a:r>
            <a:r>
              <a:rPr lang="en-US" sz="1400" b="1" dirty="0">
                <a:solidFill>
                  <a:srgbClr val="0F1B2D"/>
                </a:solidFill>
                <a:latin typeface="IBM Plex Sans" pitchFamily="34" charset="0"/>
                <a:ea typeface="IBM Plex Sans" pitchFamily="34" charset="-122"/>
                <a:cs typeface="IBM Plex Sans" pitchFamily="34" charset="-120"/>
              </a:rPr>
              <a:t>spring alone looks like drift</a:t>
            </a:r>
            <a:r>
              <a:rPr lang="en-US" sz="1400" dirty="0">
                <a:solidFill>
                  <a:srgbClr val="4A5568"/>
                </a:solidFill>
                <a:latin typeface="IBM Plex Sans" pitchFamily="34" charset="0"/>
                <a:ea typeface="IBM Plex Sans" pitchFamily="34" charset="-122"/>
                <a:cs typeface="IBM Plex Sans" pitchFamily="34" charset="-120"/>
              </a:rPr>
              <a:t>. Oil sat 11th of 13. Compare with spring 2025 instead and the warning disappears.</a:t>
            </a:r>
            <a:endParaRPr lang="en-US" sz="1400" dirty="0"/>
          </a:p>
        </p:txBody>
      </p:sp>
      <p:sp>
        <p:nvSpPr>
          <p:cNvPr id="13" name="Shape 10"/>
          <p:cNvSpPr/>
          <p:nvPr/>
        </p:nvSpPr>
        <p:spPr>
          <a:xfrm>
            <a:off x="7961858" y="1595735"/>
            <a:ext cx="3414167" cy="3135709"/>
          </a:xfrm>
          <a:prstGeom prst="roundRect">
            <a:avLst>
              <a:gd name="adj" fmla="val 3139"/>
            </a:avLst>
          </a:prstGeom>
          <a:solidFill>
            <a:srgbClr val="FFFEFB"/>
          </a:solidFill>
          <a:ln w="6350">
            <a:solidFill>
              <a:srgbClr val="DED9CE"/>
            </a:solidFill>
            <a:prstDash val="solid"/>
          </a:ln>
        </p:spPr>
        <p:txBody>
          <a:bodyPr/>
          <a:lstStyle/>
          <a:p>
            <a:endParaRPr lang="en-IE"/>
          </a:p>
        </p:txBody>
      </p:sp>
      <p:sp>
        <p:nvSpPr>
          <p:cNvPr id="14" name="Text 11"/>
          <p:cNvSpPr/>
          <p:nvPr/>
        </p:nvSpPr>
        <p:spPr>
          <a:xfrm>
            <a:off x="8168233" y="1802110"/>
            <a:ext cx="309145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A1E"/>
                </a:solidFill>
                <a:latin typeface="IBM Plex Sans" pitchFamily="34" charset="0"/>
                <a:ea typeface="IBM Plex Sans" pitchFamily="34" charset="-122"/>
                <a:cs typeface="IBM Plex Sans" pitchFamily="34" charset="-120"/>
              </a:rPr>
              <a:t>3 · WHY OIL STAYED QUIET</a:t>
            </a:r>
            <a:endParaRPr lang="en-US" sz="1200" dirty="0"/>
          </a:p>
        </p:txBody>
      </p:sp>
      <p:sp>
        <p:nvSpPr>
          <p:cNvPr id="15" name="Text 12"/>
          <p:cNvSpPr/>
          <p:nvPr/>
        </p:nvSpPr>
        <p:spPr>
          <a:xfrm>
            <a:off x="8168233" y="2117030"/>
            <a:ext cx="81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Training</a:t>
            </a:r>
            <a:endParaRPr lang="en-US" sz="1200" dirty="0"/>
          </a:p>
        </p:txBody>
      </p:sp>
      <p:sp>
        <p:nvSpPr>
          <p:cNvPr id="16" name="Shape 13"/>
          <p:cNvSpPr/>
          <p:nvPr/>
        </p:nvSpPr>
        <p:spPr>
          <a:xfrm>
            <a:off x="9019133" y="2134791"/>
            <a:ext cx="342900" cy="177800"/>
          </a:xfrm>
          <a:custGeom>
            <a:avLst/>
            <a:gdLst/>
            <a:ahLst/>
            <a:cxnLst/>
            <a:rect l="l" t="t" r="r" b="b"/>
            <a:pathLst>
              <a:path w="342900" h="177800">
                <a:moveTo>
                  <a:pt x="0" y="0"/>
                </a:moveTo>
                <a:lnTo>
                  <a:pt x="304800" y="0"/>
                </a:lnTo>
                <a:arcTo wR="38100" hR="38100" stAng="16200000" swAng="5400000"/>
                <a:lnTo>
                  <a:pt x="342900" y="139700"/>
                </a:lnTo>
                <a:arcTo wR="38100" hR="38100" stAng="0" swAng="5400000"/>
                <a:lnTo>
                  <a:pt x="0" y="177800"/>
                </a:lnTo>
                <a:lnTo>
                  <a:pt x="0" y="0"/>
                </a:lnTo>
                <a:close/>
              </a:path>
            </a:pathLst>
          </a:custGeom>
          <a:solidFill>
            <a:srgbClr val="8A8F98"/>
          </a:solidFill>
          <a:ln/>
        </p:spPr>
        <p:txBody>
          <a:bodyPr/>
          <a:lstStyle/>
          <a:p>
            <a:endParaRPr lang="en-IE"/>
          </a:p>
        </p:txBody>
      </p:sp>
      <p:sp>
        <p:nvSpPr>
          <p:cNvPr id="17" name="Text 14"/>
          <p:cNvSpPr/>
          <p:nvPr/>
        </p:nvSpPr>
        <p:spPr>
          <a:xfrm>
            <a:off x="9450933" y="2117030"/>
            <a:ext cx="50482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+21%</a:t>
            </a:r>
            <a:endParaRPr lang="en-US" sz="1200" dirty="0"/>
          </a:p>
        </p:txBody>
      </p:sp>
      <p:sp>
        <p:nvSpPr>
          <p:cNvPr id="18" name="Text 15"/>
          <p:cNvSpPr/>
          <p:nvPr/>
        </p:nvSpPr>
        <p:spPr>
          <a:xfrm>
            <a:off x="8168233" y="2393851"/>
            <a:ext cx="81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shock</a:t>
            </a:r>
            <a:endParaRPr lang="en-US" sz="1200" dirty="0"/>
          </a:p>
        </p:txBody>
      </p:sp>
      <p:sp>
        <p:nvSpPr>
          <p:cNvPr id="19" name="Shape 16"/>
          <p:cNvSpPr/>
          <p:nvPr/>
        </p:nvSpPr>
        <p:spPr>
          <a:xfrm>
            <a:off x="9019133" y="2411611"/>
            <a:ext cx="1270000" cy="177800"/>
          </a:xfrm>
          <a:custGeom>
            <a:avLst/>
            <a:gdLst/>
            <a:ahLst/>
            <a:cxnLst/>
            <a:rect l="l" t="t" r="r" b="b"/>
            <a:pathLst>
              <a:path w="1270000" h="177800">
                <a:moveTo>
                  <a:pt x="0" y="0"/>
                </a:moveTo>
                <a:lnTo>
                  <a:pt x="1231900" y="0"/>
                </a:lnTo>
                <a:arcTo wR="38100" hR="38100" stAng="16200000" swAng="5400000"/>
                <a:lnTo>
                  <a:pt x="1270000" y="139700"/>
                </a:lnTo>
                <a:arcTo wR="38100" hR="38100" stAng="0" swAng="5400000"/>
                <a:lnTo>
                  <a:pt x="0" y="177800"/>
                </a:lnTo>
                <a:lnTo>
                  <a:pt x="0" y="0"/>
                </a:lnTo>
                <a:close/>
              </a:path>
            </a:pathLst>
          </a:custGeom>
          <a:solidFill>
            <a:srgbClr val="E07B39"/>
          </a:solidFill>
          <a:ln/>
        </p:spPr>
        <p:txBody>
          <a:bodyPr/>
          <a:lstStyle/>
          <a:p>
            <a:endParaRPr lang="en-IE"/>
          </a:p>
        </p:txBody>
      </p:sp>
      <p:sp>
        <p:nvSpPr>
          <p:cNvPr id="20" name="Text 17"/>
          <p:cNvSpPr/>
          <p:nvPr/>
        </p:nvSpPr>
        <p:spPr>
          <a:xfrm>
            <a:off x="10378033" y="2393851"/>
            <a:ext cx="50482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5A1E"/>
                </a:solidFill>
                <a:latin typeface="IBM Plex Sans" pitchFamily="34" charset="0"/>
                <a:ea typeface="IBM Plex Sans" pitchFamily="34" charset="-122"/>
                <a:cs typeface="IBM Plex Sans" pitchFamily="34" charset="-120"/>
              </a:rPr>
              <a:t>+78%</a:t>
            </a:r>
            <a:endParaRPr lang="en-US" sz="1200" dirty="0"/>
          </a:p>
        </p:txBody>
      </p:sp>
      <p:sp>
        <p:nvSpPr>
          <p:cNvPr id="21" name="Text 18"/>
          <p:cNvSpPr/>
          <p:nvPr/>
        </p:nvSpPr>
        <p:spPr>
          <a:xfrm>
            <a:off x="8168233" y="2708771"/>
            <a:ext cx="3091459"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Its biggest monthly oil rise in training was 21%. Tree models can't go past what they've seen, so a 78% rise looked like 21%.</a:t>
            </a:r>
            <a:endParaRPr lang="en-US" sz="1400" dirty="0"/>
          </a:p>
        </p:txBody>
      </p:sp>
      <p:sp>
        <p:nvSpPr>
          <p:cNvPr id="22" name="Shape 19"/>
          <p:cNvSpPr/>
          <p:nvPr/>
        </p:nvSpPr>
        <p:spPr>
          <a:xfrm>
            <a:off x="812800" y="4988620"/>
            <a:ext cx="10566400" cy="853380"/>
          </a:xfrm>
          <a:prstGeom prst="roundRect">
            <a:avLst>
              <a:gd name="adj" fmla="val 10417"/>
            </a:avLst>
          </a:prstGeom>
          <a:solidFill>
            <a:srgbClr val="0F1B2D"/>
          </a:solidFill>
          <a:ln/>
        </p:spPr>
        <p:txBody>
          <a:bodyPr/>
          <a:lstStyle/>
          <a:p>
            <a:endParaRPr lang="en-IE"/>
          </a:p>
        </p:txBody>
      </p:sp>
      <p:pic>
        <p:nvPicPr>
          <p:cNvPr id="23" name="Image 1" descr="Lightning"/>
          <p:cNvPicPr>
            <a:picLocks noChangeAspect="1"/>
          </p:cNvPicPr>
          <p:nvPr/>
        </p:nvPicPr>
        <p:blipFill>
          <a:blip r:embed="rId4"/>
          <a:srcRect t="-463" b="-463"/>
          <a:stretch/>
        </p:blipFill>
        <p:spPr>
          <a:xfrm>
            <a:off x="1016000" y="5275610"/>
            <a:ext cx="251668" cy="279400"/>
          </a:xfrm>
          <a:prstGeom prst="rect">
            <a:avLst/>
          </a:prstGeom>
        </p:spPr>
      </p:pic>
      <p:sp>
        <p:nvSpPr>
          <p:cNvPr id="24" name="Text 20"/>
          <p:cNvSpPr/>
          <p:nvPr/>
        </p:nvSpPr>
        <p:spPr>
          <a:xfrm>
            <a:off x="1394668" y="5141020"/>
            <a:ext cx="10074772" cy="57398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F3EE"/>
                </a:solidFill>
                <a:latin typeface="IBM Plex Sans" pitchFamily="34" charset="0"/>
                <a:ea typeface="IBM Plex Sans" pitchFamily="34" charset="-122"/>
                <a:cs typeface="IBM Plex Sans" pitchFamily="34" charset="-120"/>
              </a:rPr>
              <a:t>What it taught us:</a:t>
            </a:r>
            <a:r>
              <a:rPr lang="en-US" sz="1600" dirty="0">
                <a:solidFill>
                  <a:srgbClr val="F5F3EE"/>
                </a:solidFill>
                <a:latin typeface="IBM Plex Sans" pitchFamily="34" charset="0"/>
                <a:ea typeface="IBM Plex Sans" pitchFamily="34" charset="-122"/>
                <a:cs typeface="IBM Plex Sans" pitchFamily="34" charset="-120"/>
              </a:rPr>
              <a:t> </a:t>
            </a:r>
            <a:r>
              <a:rPr lang="en-US" sz="1600" dirty="0">
                <a:solidFill>
                  <a:srgbClr val="C3CEDB"/>
                </a:solidFill>
                <a:latin typeface="IBM Plex Sans" pitchFamily="34" charset="0"/>
                <a:ea typeface="IBM Plex Sans" pitchFamily="34" charset="-122"/>
                <a:cs typeface="IBM Plex Sans" pitchFamily="34" charset="-120"/>
              </a:rPr>
              <a:t>check a warning against the season before trusting it, and a model can't explain a shock it never saw.</a:t>
            </a:r>
            <a:endParaRPr lang="en-US" sz="1600" dirty="0"/>
          </a:p>
        </p:txBody>
      </p:sp>
      <p:sp>
        <p:nvSpPr>
          <p:cNvPr id="25"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Oil model = blind model + 30-day Brent change (FRED). Oil rank: mean |SHAP|, fortnight from 25 Apr 2026.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0F1B2D"/>
                </a:solidFill>
                <a:latin typeface="Space Grotesk" pitchFamily="34" charset="0"/>
                <a:ea typeface="Space Grotesk" pitchFamily="34" charset="-122"/>
                <a:cs typeface="Space Grotesk" pitchFamily="34" charset="-120"/>
              </a:rPr>
              <a:t>What our setup can't tell us</a:t>
            </a:r>
            <a:endParaRPr lang="en-US" sz="3600" dirty="0"/>
          </a:p>
        </p:txBody>
      </p:sp>
      <p:sp>
        <p:nvSpPr>
          <p:cNvPr id="3" name="Shape 1"/>
          <p:cNvSpPr/>
          <p:nvPr/>
        </p:nvSpPr>
        <p:spPr>
          <a:xfrm>
            <a:off x="815975" y="1595735"/>
            <a:ext cx="5200650" cy="2071340"/>
          </a:xfrm>
          <a:prstGeom prst="roundRect">
            <a:avLst>
              <a:gd name="adj" fmla="val 4752"/>
            </a:avLst>
          </a:prstGeom>
          <a:solidFill>
            <a:srgbClr val="FFFEFB"/>
          </a:solidFill>
          <a:ln w="6350">
            <a:solidFill>
              <a:srgbClr val="DED9CE"/>
            </a:solidFill>
            <a:prstDash val="solid"/>
          </a:ln>
        </p:spPr>
        <p:txBody>
          <a:bodyPr/>
          <a:lstStyle/>
          <a:p>
            <a:endParaRPr lang="en-IE"/>
          </a:p>
        </p:txBody>
      </p:sp>
      <p:pic>
        <p:nvPicPr>
          <p:cNvPr id="4" name="Image 0" descr="Chart"/>
          <p:cNvPicPr>
            <a:picLocks noChangeAspect="1"/>
          </p:cNvPicPr>
          <p:nvPr/>
        </p:nvPicPr>
        <p:blipFill>
          <a:blip r:embed="rId3"/>
          <a:srcRect/>
          <a:stretch/>
        </p:blipFill>
        <p:spPr>
          <a:xfrm>
            <a:off x="1047750" y="1814810"/>
            <a:ext cx="279400" cy="279400"/>
          </a:xfrm>
          <a:prstGeom prst="rect">
            <a:avLst/>
          </a:prstGeom>
        </p:spPr>
      </p:pic>
      <p:sp>
        <p:nvSpPr>
          <p:cNvPr id="5" name="Text 2"/>
          <p:cNvSpPr/>
          <p:nvPr/>
        </p:nvSpPr>
        <p:spPr>
          <a:xfrm>
            <a:off x="1428750" y="1802110"/>
            <a:ext cx="203823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B2D"/>
                </a:solidFill>
                <a:latin typeface="Space Grotesk" pitchFamily="34" charset="0"/>
                <a:ea typeface="Space Grotesk" pitchFamily="34" charset="-122"/>
                <a:cs typeface="Space Grotesk" pitchFamily="34" charset="-120"/>
              </a:rPr>
              <a:t>Rank, not size</a:t>
            </a:r>
            <a:endParaRPr lang="en-US" sz="2000" dirty="0"/>
          </a:p>
        </p:txBody>
      </p:sp>
      <p:sp>
        <p:nvSpPr>
          <p:cNvPr id="6" name="Text 3"/>
          <p:cNvSpPr/>
          <p:nvPr/>
        </p:nvSpPr>
        <p:spPr>
          <a:xfrm>
            <a:off x="1047750" y="2208510"/>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October</a:t>
            </a:r>
            <a:endParaRPr lang="en-US" sz="1200" dirty="0"/>
          </a:p>
        </p:txBody>
      </p:sp>
      <p:sp>
        <p:nvSpPr>
          <p:cNvPr id="7" name="Shape 4"/>
          <p:cNvSpPr/>
          <p:nvPr/>
        </p:nvSpPr>
        <p:spPr>
          <a:xfrm>
            <a:off x="2292350" y="2232620"/>
            <a:ext cx="704850" cy="165100"/>
          </a:xfrm>
          <a:prstGeom prst="roundRect">
            <a:avLst>
              <a:gd name="adj" fmla="val 15385"/>
            </a:avLst>
          </a:prstGeom>
          <a:solidFill>
            <a:srgbClr val="8A8F98"/>
          </a:solidFill>
          <a:ln/>
        </p:spPr>
        <p:txBody>
          <a:bodyPr/>
          <a:lstStyle/>
          <a:p>
            <a:endParaRPr lang="en-IE"/>
          </a:p>
        </p:txBody>
      </p:sp>
      <p:sp>
        <p:nvSpPr>
          <p:cNvPr id="8" name="Text 5"/>
          <p:cNvSpPr/>
          <p:nvPr/>
        </p:nvSpPr>
        <p:spPr>
          <a:xfrm>
            <a:off x="3098800" y="2208510"/>
            <a:ext cx="3838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13.9</a:t>
            </a:r>
            <a:endParaRPr lang="en-US" sz="1200" dirty="0"/>
          </a:p>
        </p:txBody>
      </p:sp>
      <p:sp>
        <p:nvSpPr>
          <p:cNvPr id="9" name="Text 6"/>
          <p:cNvSpPr/>
          <p:nvPr/>
        </p:nvSpPr>
        <p:spPr>
          <a:xfrm>
            <a:off x="1047750" y="2472630"/>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September</a:t>
            </a:r>
            <a:endParaRPr lang="en-US" sz="1200" dirty="0"/>
          </a:p>
        </p:txBody>
      </p:sp>
      <p:sp>
        <p:nvSpPr>
          <p:cNvPr id="10" name="Shape 7"/>
          <p:cNvSpPr/>
          <p:nvPr/>
        </p:nvSpPr>
        <p:spPr>
          <a:xfrm>
            <a:off x="2292350" y="2496741"/>
            <a:ext cx="1803400" cy="165100"/>
          </a:xfrm>
          <a:prstGeom prst="roundRect">
            <a:avLst>
              <a:gd name="adj" fmla="val 15385"/>
            </a:avLst>
          </a:prstGeom>
          <a:solidFill>
            <a:srgbClr val="E07B39"/>
          </a:solidFill>
          <a:ln/>
        </p:spPr>
        <p:txBody>
          <a:bodyPr/>
          <a:lstStyle/>
          <a:p>
            <a:endParaRPr lang="en-IE"/>
          </a:p>
        </p:txBody>
      </p:sp>
      <p:sp>
        <p:nvSpPr>
          <p:cNvPr id="11" name="Text 8"/>
          <p:cNvSpPr/>
          <p:nvPr/>
        </p:nvSpPr>
        <p:spPr>
          <a:xfrm>
            <a:off x="4197350" y="2472630"/>
            <a:ext cx="3838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5A1E"/>
                </a:solidFill>
                <a:latin typeface="IBM Plex Sans" pitchFamily="34" charset="0"/>
                <a:ea typeface="IBM Plex Sans" pitchFamily="34" charset="-122"/>
                <a:cs typeface="IBM Plex Sans" pitchFamily="34" charset="-120"/>
              </a:rPr>
              <a:t>35.5</a:t>
            </a:r>
            <a:endParaRPr lang="en-US" sz="1200" dirty="0"/>
          </a:p>
        </p:txBody>
      </p:sp>
      <p:sp>
        <p:nvSpPr>
          <p:cNvPr id="12" name="Text 9"/>
          <p:cNvSpPr/>
          <p:nvPr/>
        </p:nvSpPr>
        <p:spPr>
          <a:xfrm>
            <a:off x="1047750" y="2787551"/>
            <a:ext cx="4879213"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Yesterday's price pushed 2.5× harder, but tau only sees it move up one place.</a:t>
            </a:r>
            <a:endParaRPr lang="en-US" sz="1300" dirty="0"/>
          </a:p>
        </p:txBody>
      </p:sp>
      <p:sp>
        <p:nvSpPr>
          <p:cNvPr id="13" name="Shape 10"/>
          <p:cNvSpPr/>
          <p:nvPr/>
        </p:nvSpPr>
        <p:spPr>
          <a:xfrm>
            <a:off x="6175375" y="1595735"/>
            <a:ext cx="5200650" cy="2071340"/>
          </a:xfrm>
          <a:prstGeom prst="roundRect">
            <a:avLst>
              <a:gd name="adj" fmla="val 4752"/>
            </a:avLst>
          </a:prstGeom>
          <a:solidFill>
            <a:srgbClr val="FFFEFB"/>
          </a:solidFill>
          <a:ln w="6350">
            <a:solidFill>
              <a:srgbClr val="DED9CE"/>
            </a:solidFill>
            <a:prstDash val="solid"/>
          </a:ln>
        </p:spPr>
        <p:txBody>
          <a:bodyPr/>
          <a:lstStyle/>
          <a:p>
            <a:endParaRPr lang="en-IE"/>
          </a:p>
        </p:txBody>
      </p:sp>
      <p:pic>
        <p:nvPicPr>
          <p:cNvPr id="14" name="Image 1" descr="Activity"/>
          <p:cNvPicPr>
            <a:picLocks noChangeAspect="1"/>
          </p:cNvPicPr>
          <p:nvPr/>
        </p:nvPicPr>
        <p:blipFill>
          <a:blip r:embed="rId4"/>
          <a:srcRect/>
          <a:stretch/>
        </p:blipFill>
        <p:spPr>
          <a:xfrm>
            <a:off x="6407150" y="1814810"/>
            <a:ext cx="279400" cy="279400"/>
          </a:xfrm>
          <a:prstGeom prst="rect">
            <a:avLst/>
          </a:prstGeom>
        </p:spPr>
      </p:pic>
      <p:sp>
        <p:nvSpPr>
          <p:cNvPr id="15" name="Text 11"/>
          <p:cNvSpPr/>
          <p:nvPr/>
        </p:nvSpPr>
        <p:spPr>
          <a:xfrm>
            <a:off x="6788150" y="1802110"/>
            <a:ext cx="301061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B2D"/>
                </a:solidFill>
                <a:latin typeface="Space Grotesk" pitchFamily="34" charset="0"/>
                <a:ea typeface="Space Grotesk" pitchFamily="34" charset="-122"/>
                <a:cs typeface="Space Grotesk" pitchFamily="34" charset="-120"/>
              </a:rPr>
              <a:t>A shaky warning line</a:t>
            </a:r>
            <a:endParaRPr lang="en-US" sz="2000" dirty="0"/>
          </a:p>
        </p:txBody>
      </p:sp>
      <p:pic>
        <p:nvPicPr>
          <p:cNvPr id="16" name="Image 2" descr="Eight pre-crisis fortnights shown as dots above a dashed warning line; one dot falls past the line"/>
          <p:cNvPicPr>
            <a:picLocks noChangeAspect="1"/>
          </p:cNvPicPr>
          <p:nvPr/>
        </p:nvPicPr>
        <p:blipFill>
          <a:blip r:embed="rId5"/>
          <a:srcRect/>
          <a:stretch/>
        </p:blipFill>
        <p:spPr>
          <a:xfrm>
            <a:off x="6407150" y="2208510"/>
            <a:ext cx="3556000" cy="457200"/>
          </a:xfrm>
          <a:prstGeom prst="rect">
            <a:avLst/>
          </a:prstGeom>
        </p:spPr>
      </p:pic>
      <p:sp>
        <p:nvSpPr>
          <p:cNvPr id="17" name="Text 12"/>
          <p:cNvSpPr/>
          <p:nvPr/>
        </p:nvSpPr>
        <p:spPr>
          <a:xfrm>
            <a:off x="10064750" y="2330450"/>
            <a:ext cx="9965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E"/>
                </a:solidFill>
                <a:latin typeface="IBM Plex Sans" pitchFamily="34" charset="0"/>
                <a:ea typeface="IBM Plex Sans" pitchFamily="34" charset="-122"/>
                <a:cs typeface="IBM Plex Sans" pitchFamily="34" charset="-120"/>
              </a:rPr>
              <a:t>warning line</a:t>
            </a:r>
            <a:endParaRPr lang="en-US" sz="1200" dirty="0"/>
          </a:p>
        </p:txBody>
      </p:sp>
      <p:sp>
        <p:nvSpPr>
          <p:cNvPr id="18" name="Text 13"/>
          <p:cNvSpPr/>
          <p:nvPr/>
        </p:nvSpPr>
        <p:spPr>
          <a:xfrm>
            <a:off x="6407150" y="2767310"/>
            <a:ext cx="4879213"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"Normal wobble" comes from just 8 calm fortnights, so the line itself is uncertain. Mid-January, with no crisis, already crossed it: a false alarm.</a:t>
            </a:r>
            <a:endParaRPr lang="en-US" sz="1300" dirty="0"/>
          </a:p>
        </p:txBody>
      </p:sp>
      <p:sp>
        <p:nvSpPr>
          <p:cNvPr id="19" name="Shape 14"/>
          <p:cNvSpPr/>
          <p:nvPr/>
        </p:nvSpPr>
        <p:spPr>
          <a:xfrm>
            <a:off x="815975" y="3825825"/>
            <a:ext cx="5200650" cy="1725910"/>
          </a:xfrm>
          <a:prstGeom prst="roundRect">
            <a:avLst>
              <a:gd name="adj" fmla="val 5703"/>
            </a:avLst>
          </a:prstGeom>
          <a:solidFill>
            <a:srgbClr val="FFFEFB"/>
          </a:solidFill>
          <a:ln w="6350">
            <a:solidFill>
              <a:srgbClr val="DED9CE"/>
            </a:solidFill>
            <a:prstDash val="solid"/>
          </a:ln>
        </p:spPr>
        <p:txBody>
          <a:bodyPr/>
          <a:lstStyle/>
          <a:p>
            <a:endParaRPr lang="en-IE"/>
          </a:p>
        </p:txBody>
      </p:sp>
      <p:pic>
        <p:nvPicPr>
          <p:cNvPr id="20" name="Image 3" descr="CheckCircle"/>
          <p:cNvPicPr>
            <a:picLocks noChangeAspect="1"/>
          </p:cNvPicPr>
          <p:nvPr/>
        </p:nvPicPr>
        <p:blipFill>
          <a:blip r:embed="rId6"/>
          <a:srcRect/>
          <a:stretch/>
        </p:blipFill>
        <p:spPr>
          <a:xfrm>
            <a:off x="1047750" y="4044900"/>
            <a:ext cx="279400" cy="279400"/>
          </a:xfrm>
          <a:prstGeom prst="rect">
            <a:avLst/>
          </a:prstGeom>
        </p:spPr>
      </p:pic>
      <p:sp>
        <p:nvSpPr>
          <p:cNvPr id="21" name="Text 15"/>
          <p:cNvSpPr/>
          <p:nvPr/>
        </p:nvSpPr>
        <p:spPr>
          <a:xfrm>
            <a:off x="1428750" y="4032200"/>
            <a:ext cx="308115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B2D"/>
                </a:solidFill>
                <a:latin typeface="Space Grotesk" pitchFamily="34" charset="0"/>
                <a:ea typeface="Space Grotesk" pitchFamily="34" charset="-122"/>
                <a:cs typeface="Space Grotesk" pitchFamily="34" charset="-120"/>
              </a:rPr>
              <a:t>October did two jobs</a:t>
            </a:r>
            <a:endParaRPr lang="en-US" sz="2000" dirty="0"/>
          </a:p>
        </p:txBody>
      </p:sp>
      <p:sp>
        <p:nvSpPr>
          <p:cNvPr id="22" name="Text 16"/>
          <p:cNvSpPr/>
          <p:nvPr/>
        </p:nvSpPr>
        <p:spPr>
          <a:xfrm>
            <a:off x="1047750" y="4438600"/>
            <a:ext cx="1716832" cy="314920"/>
          </a:xfrm>
          <a:prstGeom prst="roundRect">
            <a:avLst>
              <a:gd name="adj" fmla="val 16131"/>
            </a:avLst>
          </a:prstGeom>
          <a:solidFill>
            <a:srgbClr val="E4EDF6"/>
          </a:solidFill>
          <a:ln/>
        </p:spPr>
        <p:txBody>
          <a:bodyPr wrap="none" lIns="0" tIns="0" rIns="0" bIns="0" rtlCol="0" anchor="ctr">
            <a:normAutofit/>
          </a:bodyPr>
          <a:lstStyle/>
          <a:p>
            <a:pPr marL="0" indent="0" algn="ctr">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When to stop training</a:t>
            </a:r>
            <a:endParaRPr lang="en-US" sz="1200" dirty="0"/>
          </a:p>
        </p:txBody>
      </p:sp>
      <p:sp>
        <p:nvSpPr>
          <p:cNvPr id="23" name="Text 17"/>
          <p:cNvSpPr/>
          <p:nvPr/>
        </p:nvSpPr>
        <p:spPr>
          <a:xfrm>
            <a:off x="2853482" y="4471591"/>
            <a:ext cx="15751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24" name="Text 18"/>
          <p:cNvSpPr/>
          <p:nvPr/>
        </p:nvSpPr>
        <p:spPr>
          <a:xfrm>
            <a:off x="3049091" y="4438600"/>
            <a:ext cx="1461294" cy="314920"/>
          </a:xfrm>
          <a:prstGeom prst="roundRect">
            <a:avLst>
              <a:gd name="adj" fmla="val 16131"/>
            </a:avLst>
          </a:prstGeom>
          <a:solidFill>
            <a:srgbClr val="E4EDF6"/>
          </a:solidFill>
          <a:ln/>
        </p:spPr>
        <p:txBody>
          <a:bodyPr wrap="none" lIns="0" tIns="0" rIns="0" bIns="0" rtlCol="0" anchor="ctr">
            <a:normAutofit/>
          </a:bodyPr>
          <a:lstStyle/>
          <a:p>
            <a:pPr marL="0" indent="0" algn="ctr">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How accurate it is</a:t>
            </a:r>
            <a:endParaRPr lang="en-US" sz="1200" dirty="0"/>
          </a:p>
        </p:txBody>
      </p:sp>
      <p:sp>
        <p:nvSpPr>
          <p:cNvPr id="25" name="Text 19"/>
          <p:cNvSpPr/>
          <p:nvPr/>
        </p:nvSpPr>
        <p:spPr>
          <a:xfrm>
            <a:off x="1047750" y="4855121"/>
            <a:ext cx="4879213"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Using one month for both makes our 14.5 €/MWh error slightly optimistic.</a:t>
            </a:r>
            <a:endParaRPr lang="en-US" sz="1300" dirty="0"/>
          </a:p>
        </p:txBody>
      </p:sp>
      <p:sp>
        <p:nvSpPr>
          <p:cNvPr id="26" name="Shape 20"/>
          <p:cNvSpPr/>
          <p:nvPr/>
        </p:nvSpPr>
        <p:spPr>
          <a:xfrm>
            <a:off x="6172200" y="3822650"/>
            <a:ext cx="5207000" cy="1732260"/>
          </a:xfrm>
          <a:prstGeom prst="roundRect">
            <a:avLst>
              <a:gd name="adj" fmla="val 5865"/>
            </a:avLst>
          </a:prstGeom>
          <a:solidFill>
            <a:srgbClr val="0F1B2D"/>
          </a:solidFill>
          <a:ln/>
        </p:spPr>
        <p:txBody>
          <a:bodyPr/>
          <a:lstStyle/>
          <a:p>
            <a:endParaRPr lang="en-IE"/>
          </a:p>
        </p:txBody>
      </p:sp>
      <p:pic>
        <p:nvPicPr>
          <p:cNvPr id="27" name="Image 4" descr="Flag of Germany"/>
          <p:cNvPicPr>
            <a:picLocks noChangeAspect="1"/>
          </p:cNvPicPr>
          <p:nvPr/>
        </p:nvPicPr>
        <p:blipFill>
          <a:blip r:embed="rId7"/>
          <a:srcRect t="-1948" b="-1948"/>
          <a:stretch/>
        </p:blipFill>
        <p:spPr>
          <a:xfrm>
            <a:off x="6400800" y="4051250"/>
            <a:ext cx="406400" cy="254000"/>
          </a:xfrm>
          <a:prstGeom prst="rect">
            <a:avLst/>
          </a:prstGeom>
        </p:spPr>
      </p:pic>
      <p:sp>
        <p:nvSpPr>
          <p:cNvPr id="28" name="Text 21"/>
          <p:cNvSpPr/>
          <p:nvPr/>
        </p:nvSpPr>
        <p:spPr>
          <a:xfrm>
            <a:off x="6908800" y="4025850"/>
            <a:ext cx="32931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3EE"/>
                </a:solidFill>
                <a:latin typeface="Space Grotesk" pitchFamily="34" charset="0"/>
                <a:ea typeface="Space Grotesk" pitchFamily="34" charset="-122"/>
                <a:cs typeface="Space Grotesk" pitchFamily="34" charset="-120"/>
              </a:rPr>
              <a:t>One event, one market</a:t>
            </a:r>
            <a:endParaRPr lang="en-US" sz="2000" dirty="0"/>
          </a:p>
        </p:txBody>
      </p:sp>
      <p:sp>
        <p:nvSpPr>
          <p:cNvPr id="29" name="Text 22"/>
          <p:cNvSpPr/>
          <p:nvPr/>
        </p:nvSpPr>
        <p:spPr>
          <a:xfrm>
            <a:off x="6400800" y="4432250"/>
            <a:ext cx="109674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07B39"/>
                </a:solidFill>
                <a:latin typeface="Space Grotesk" pitchFamily="34" charset="0"/>
                <a:ea typeface="Space Grotesk" pitchFamily="34" charset="-122"/>
                <a:cs typeface="Space Grotesk" pitchFamily="34" charset="-120"/>
              </a:rPr>
              <a:t>1 shock</a:t>
            </a:r>
            <a:endParaRPr lang="en-US" sz="2000" dirty="0"/>
          </a:p>
        </p:txBody>
      </p:sp>
      <p:sp>
        <p:nvSpPr>
          <p:cNvPr id="30" name="Text 23"/>
          <p:cNvSpPr/>
          <p:nvPr/>
        </p:nvSpPr>
        <p:spPr>
          <a:xfrm>
            <a:off x="7568754" y="4432250"/>
            <a:ext cx="124104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07B39"/>
                </a:solidFill>
                <a:latin typeface="Space Grotesk" pitchFamily="34" charset="0"/>
                <a:ea typeface="Space Grotesk" pitchFamily="34" charset="-122"/>
                <a:cs typeface="Space Grotesk" pitchFamily="34" charset="-120"/>
              </a:rPr>
              <a:t>1 market</a:t>
            </a:r>
            <a:endParaRPr lang="en-US" sz="2000" dirty="0"/>
          </a:p>
        </p:txBody>
      </p:sp>
      <p:sp>
        <p:nvSpPr>
          <p:cNvPr id="31" name="Text 24"/>
          <p:cNvSpPr/>
          <p:nvPr/>
        </p:nvSpPr>
        <p:spPr>
          <a:xfrm>
            <a:off x="8856960" y="4432250"/>
            <a:ext cx="13183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07B39"/>
                </a:solidFill>
                <a:latin typeface="Space Grotesk" pitchFamily="34" charset="0"/>
                <a:ea typeface="Space Grotesk" pitchFamily="34" charset="-122"/>
                <a:cs typeface="Space Grotesk" pitchFamily="34" charset="-120"/>
              </a:rPr>
              <a:t>2 models</a:t>
            </a:r>
            <a:endParaRPr lang="en-US" sz="2000" dirty="0"/>
          </a:p>
        </p:txBody>
      </p:sp>
      <p:sp>
        <p:nvSpPr>
          <p:cNvPr id="32" name="Text 25"/>
          <p:cNvSpPr/>
          <p:nvPr/>
        </p:nvSpPr>
        <p:spPr>
          <a:xfrm>
            <a:off x="6400800" y="4889450"/>
            <a:ext cx="489229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3CEDB"/>
                </a:solidFill>
                <a:latin typeface="IBM Plex Sans" pitchFamily="34" charset="0"/>
                <a:ea typeface="IBM Plex Sans" pitchFamily="34" charset="-122"/>
                <a:cs typeface="IBM Plex Sans" pitchFamily="34" charset="-120"/>
              </a:rPr>
              <a:t>No early warning here doesn't rule one out for other shocks, markets or models.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B39"/>
          </a:solidFill>
          <a:ln/>
        </p:spPr>
        <p:txBody>
          <a:bodyPr/>
          <a:lstStyle/>
          <a:p>
            <a:endParaRPr lang="en-IE"/>
          </a:p>
        </p:txBody>
      </p:sp>
      <p:sp>
        <p:nvSpPr>
          <p:cNvPr id="3" name="Text 1"/>
          <p:cNvSpPr/>
          <p:nvPr/>
        </p:nvSpPr>
        <p:spPr>
          <a:xfrm>
            <a:off x="812800" y="8128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E07B39"/>
                </a:solidFill>
                <a:latin typeface="IBM Plex Sans" pitchFamily="34" charset="0"/>
                <a:ea typeface="IBM Plex Sans" pitchFamily="34" charset="-122"/>
                <a:cs typeface="IBM Plex Sans" pitchFamily="34" charset="-120"/>
              </a:rPr>
              <a:t>TAKEAWAY</a:t>
            </a:r>
            <a:endParaRPr lang="en-US" sz="1600" dirty="0"/>
          </a:p>
        </p:txBody>
      </p:sp>
      <p:sp>
        <p:nvSpPr>
          <p:cNvPr id="4" name="Text 2"/>
          <p:cNvSpPr>
            <a:spLocks noGrp="1"/>
          </p:cNvSpPr>
          <p:nvPr>
            <p:ph type="title"/>
          </p:nvPr>
        </p:nvSpPr>
        <p:spPr>
          <a:xfrm>
            <a:off x="812800" y="2162076"/>
            <a:ext cx="9810750" cy="2000498"/>
          </a:xfrm>
          <a:prstGeom prst="rect">
            <a:avLst/>
          </a:prstGeom>
          <a:noFill/>
          <a:ln/>
        </p:spPr>
        <p:txBody>
          <a:bodyPr wrap="square" lIns="0" tIns="0" rIns="0" bIns="0" rtlCol="0" anchor="t">
            <a:normAutofit/>
          </a:bodyPr>
          <a:lstStyle/>
          <a:p>
            <a:pPr marL="0" indent="0" algn="l">
              <a:lnSpc>
                <a:spcPts val="5184"/>
              </a:lnSpc>
              <a:buNone/>
            </a:pPr>
            <a:r>
              <a:rPr lang="en-US" sz="4800" b="1" i="0" kern="0" spc="-50" dirty="0">
                <a:solidFill>
                  <a:srgbClr val="F5F3EE"/>
                </a:solidFill>
                <a:latin typeface="Space Grotesk" pitchFamily="34" charset="0"/>
                <a:ea typeface="Space Grotesk" pitchFamily="34" charset="-122"/>
                <a:cs typeface="Space Grotesk" pitchFamily="34" charset="-120"/>
              </a:rPr>
              <a:t>Explanation drift isn't a free early warning. Seasons can move it more than a shock.</a:t>
            </a:r>
            <a:endParaRPr lang="en-US" sz="4800" dirty="0"/>
          </a:p>
        </p:txBody>
      </p:sp>
      <p:sp>
        <p:nvSpPr>
          <p:cNvPr id="5" name="Text 3"/>
          <p:cNvSpPr/>
          <p:nvPr/>
        </p:nvSpPr>
        <p:spPr>
          <a:xfrm>
            <a:off x="812800" y="5201940"/>
            <a:ext cx="3418484" cy="6654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E"/>
                </a:solidFill>
                <a:latin typeface="IBM Plex Sans" pitchFamily="34" charset="0"/>
                <a:ea typeface="IBM Plex Sans" pitchFamily="34" charset="-122"/>
                <a:cs typeface="IBM Plex Sans" pitchFamily="34" charset="-120"/>
              </a:rPr>
              <a:t>For monitoring:</a:t>
            </a:r>
            <a:r>
              <a:rPr lang="en-US" sz="1600" dirty="0">
                <a:solidFill>
                  <a:srgbClr val="C3CEDB"/>
                </a:solidFill>
                <a:latin typeface="IBM Plex Sans" pitchFamily="34" charset="0"/>
                <a:ea typeface="IBM Plex Sans" pitchFamily="34" charset="-122"/>
                <a:cs typeface="IBM Plex Sans" pitchFamily="34" charset="-120"/>
              </a:rPr>
              <a:t> watch explanations beside error, not instead of it.</a:t>
            </a:r>
            <a:endParaRPr lang="en-US" sz="1600" dirty="0"/>
          </a:p>
        </p:txBody>
      </p:sp>
      <p:sp>
        <p:nvSpPr>
          <p:cNvPr id="6" name="Text 4"/>
          <p:cNvSpPr/>
          <p:nvPr/>
        </p:nvSpPr>
        <p:spPr>
          <a:xfrm>
            <a:off x="4436517" y="5201940"/>
            <a:ext cx="3418535" cy="6654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E"/>
                </a:solidFill>
                <a:latin typeface="IBM Plex Sans" pitchFamily="34" charset="0"/>
                <a:ea typeface="IBM Plex Sans" pitchFamily="34" charset="-122"/>
                <a:cs typeface="IBM Plex Sans" pitchFamily="34" charset="-120"/>
              </a:rPr>
              <a:t>Next:</a:t>
            </a:r>
            <a:r>
              <a:rPr lang="en-US" sz="1600" dirty="0">
                <a:solidFill>
                  <a:srgbClr val="C3CEDB"/>
                </a:solidFill>
                <a:latin typeface="IBM Plex Sans" pitchFamily="34" charset="0"/>
                <a:ea typeface="IBM Plex Sans" pitchFamily="34" charset="-122"/>
                <a:cs typeface="IBM Plex Sans" pitchFamily="34" charset="-120"/>
              </a:rPr>
              <a:t> same-season baselines, a trend-based detector, more shocks.</a:t>
            </a:r>
            <a:endParaRPr lang="en-US" sz="1600" dirty="0"/>
          </a:p>
        </p:txBody>
      </p:sp>
      <p:sp>
        <p:nvSpPr>
          <p:cNvPr id="7" name="Text 5"/>
          <p:cNvSpPr/>
          <p:nvPr/>
        </p:nvSpPr>
        <p:spPr>
          <a:xfrm>
            <a:off x="7960716" y="5201940"/>
            <a:ext cx="3418484" cy="665460"/>
          </a:xfrm>
          <a:prstGeom prst="rect">
            <a:avLst/>
          </a:prstGeom>
          <a:noFill/>
          <a:ln/>
        </p:spPr>
        <p:txBody>
          <a:bodyPr wrap="square" lIns="0" tIns="0" rIns="0" bIns="0" rtlCol="0" anchor="t">
            <a:normAutofit/>
          </a:bodyPr>
          <a:lstStyle/>
          <a:p>
            <a:pPr marL="0" indent="0" algn="r">
              <a:lnSpc>
                <a:spcPts val="5040"/>
              </a:lnSpc>
              <a:buNone/>
            </a:pPr>
            <a:r>
              <a:rPr lang="en-US" sz="3600" b="1" dirty="0">
                <a:solidFill>
                  <a:srgbClr val="E07B39"/>
                </a:solidFill>
                <a:latin typeface="Space Grotesk" pitchFamily="34" charset="0"/>
                <a:ea typeface="Space Grotesk" pitchFamily="34" charset="-122"/>
                <a:cs typeface="Space Grotesk" pitchFamily="34" charset="-120"/>
              </a:rPr>
              <a:t>Questions?</a:t>
            </a:r>
            <a:endParaRPr lang="en-US" sz="3600" dirty="0"/>
          </a:p>
        </p:txBody>
      </p:sp>
      <p:sp>
        <p:nvSpPr>
          <p:cNvPr id="8" name="Text 6"/>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1B8"/>
                </a:solidFill>
                <a:latin typeface="IBM Plex Sans" pitchFamily="34" charset="0"/>
                <a:ea typeface="IBM Plex Sans" pitchFamily="34" charset="-122"/>
                <a:cs typeface="IBM Plex Sans" pitchFamily="34" charset="-120"/>
              </a:rPr>
              <a:t>Lundberg &amp; Lee 2017 · Lundberg et al. 2020 · Ke et al. 2017 · Trebbien et al. 2023 · Mougan et al. 2025 · Vigna 2015 · Code and data: github.com/matthewb62/cs4437-xai-group-project</a:t>
            </a:r>
            <a:endParaRPr lang="en-US" sz="1200" dirty="0"/>
          </a:p>
        </p:txBody>
      </p:sp>
    </p:spTree>
  </p:cSld>
  <p:clrMapOvr>
    <a:masterClrMapping/>
  </p:clrMapOvr>
</p:sld>
</file>

<file path=ppt/theme/theme1.xml><?xml version="1.0" encoding="utf-8"?>
<a:theme xmlns:a="http://schemas.openxmlformats.org/drawingml/2006/main" name="Explanation Drift Talk">
  <a:themeElements>
    <a:clrScheme name="Explanation Drift Talk">
      <a:dk1>
        <a:srgbClr val="0F1B2D"/>
      </a:dk1>
      <a:lt1>
        <a:srgbClr val="F5F3EE"/>
      </a:lt1>
      <a:dk2>
        <a:srgbClr val="49515D"/>
      </a:dk2>
      <a:lt2>
        <a:srgbClr val="DEDDDB"/>
      </a:lt2>
      <a:accent1>
        <a:srgbClr val="E07B39"/>
      </a:accent1>
      <a:accent2>
        <a:srgbClr val="2F6FAE"/>
      </a:accent2>
      <a:accent3>
        <a:srgbClr val="B85A1E"/>
      </a:accent3>
      <a:accent4>
        <a:srgbClr val="14524A"/>
      </a:accent4>
      <a:accent5>
        <a:srgbClr val="E3A82B"/>
      </a:accent5>
      <a:accent6>
        <a:srgbClr val="A6927A"/>
      </a:accent6>
      <a:hlink>
        <a:srgbClr val="0563C1"/>
      </a:hlink>
      <a:folHlink>
        <a:srgbClr val="954F72"/>
      </a:folHlink>
    </a:clrScheme>
    <a:fontScheme name="Explanation Drift Talk">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3323</Words>
  <Application>Microsoft Macintosh PowerPoint</Application>
  <PresentationFormat>Widescreen</PresentationFormat>
  <Paragraphs>242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IBM Plex Sans</vt:lpstr>
      <vt:lpstr>Space Grotesk</vt:lpstr>
      <vt:lpstr>Explanation Drift Talk</vt:lpstr>
      <vt:lpstr>Do explanations drift before accuracy does?</vt:lpstr>
      <vt:lpstr>The Strait of Hormuz</vt:lpstr>
      <vt:lpstr>About a fifth of the world's oil goes through one strait. It closed.</vt:lpstr>
      <vt:lpstr>What we were told to expect</vt:lpstr>
      <vt:lpstr>The worst predictions didn't come true.</vt:lpstr>
      <vt:lpstr>So we built our own model to find out</vt:lpstr>
      <vt:lpstr>We modelled electricity prices, not oil. Why?</vt:lpstr>
      <vt:lpstr>What the model relies on</vt:lpstr>
      <vt:lpstr>How we ran the experiment</vt:lpstr>
      <vt:lpstr>Measuring how far the ranking moves</vt:lpstr>
      <vt:lpstr>The reasoning follows the calendar, not the shock</vt:lpstr>
      <vt:lpstr>The ranking moved, but gave no warning</vt:lpstr>
      <vt:lpstr>What if the model could see oil?</vt:lpstr>
      <vt:lpstr>What our setup can't tell us</vt:lpstr>
      <vt:lpstr>Explanation drift isn't a free early warning. Seasons can move it more than a shock.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Explanation Drift Talk</dc:title>
  <dc:subject/>
  <dc:creator/>
  <cp:lastModifiedBy>ULStudent:HOLLY.BEST</cp:lastModifiedBy>
  <cp:revision>2</cp:revision>
  <dcterms:created xsi:type="dcterms:W3CDTF">2026-10-09T21:05:26Z</dcterms:created>
  <dcterms:modified xsi:type="dcterms:W3CDTF">2026-10-09T21:10:27Z</dcterms:modified>
</cp:coreProperties>
</file>